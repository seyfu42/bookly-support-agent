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"This is a customer support agent for Bookly, a fictional online bookstore. The whole thing is built on one idea, and it's on this slide: the AI writes the answer, but code makes the decision."</a:t>
            </a:r>
          </a:p>
          <a:p/>
          <a:p>
            <a:r>
              <a:t>Hold this slide for about five seconds. Don't explain it yet — the next slide explains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"Four components. On the left, the prompt — that only handles tone and judgement, there are no business rules in it. Then the loop, which I wrote by hand; it's about sixty lines and there's no framework in this project. It picks tools. The tools are where identity checks and refund preconditions actually live. And memory is split in two."</a:t>
            </a:r>
          </a:p>
          <a:p/>
          <a:p>
            <a:r>
              <a:t>"The line at the bottom is the one that matters: nothing in that flow asks the model what the rules are."</a:t>
            </a:r>
          </a:p>
          <a:p/>
          <a:p>
            <a:r>
              <a:t>About twenty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"Three decisions, and the same instinct behind all of them."</a:t>
            </a:r>
          </a:p>
          <a:p/>
          <a:p>
            <a:r>
              <a:t>"An AI is trained to be helpful. Ask it to bend a rule and it usually will. That's fine for a film recommendation and expensive when it's deciding whether to give someone their money back. So every one of these takes a judgement away from the model."</a:t>
            </a:r>
          </a:p>
          <a:p/>
          <a:p>
            <a:r>
              <a:t>Pick ONE to tell properly - decision two is the best story: the customer who insists, the model that wants to please, and the four unit tests that make it not matter.</a:t>
            </a:r>
          </a:p>
          <a:p/>
          <a:p>
            <a:r>
              <a:t>About twenty-five seconds. This is the slide they will ask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"Same customer, same order, two languages. Nobody clicked a setting — the customer asked in German and the agent switched itself."</a:t>
            </a:r>
          </a:p>
          <a:p/>
          <a:p>
            <a:r>
              <a:t>"Look at the bottom. That is one tool result, shared by both. policy.py has never heard of German — it returns a code, and the code is the same code. Language changes the wording. It cannot touch the decision."</a:t>
            </a:r>
          </a:p>
          <a:p/>
          <a:p>
            <a:r>
              <a:t>"And if the customer pushes back — in either language — it still says no. I tested that."</a:t>
            </a:r>
          </a:p>
          <a:p/>
          <a:p>
            <a:r>
              <a:t>About twenty-five seconds, then cut to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"Three things I'd do next. The first one isn't close."</a:t>
            </a:r>
          </a:p>
          <a:p/>
          <a:p>
            <a:r>
              <a:t>"The policy rules are covered by unit tests, so I know those are right. But nothing measures the model's half — did it pick the right tool, did it ask a question when it should have. Without an eval set, my next prompt change is a guess."</a:t>
            </a:r>
          </a:p>
          <a:p/>
          <a:p>
            <a:r>
              <a:t>If asked why these three: the first two on this list -- durable sessions and German -- are already built, so this is the list after those.</a:t>
            </a:r>
          </a:p>
          <a:p/>
          <a:p>
            <a:r>
              <a:t>Then close: "That's the agent. Let me show you it running."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1887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8FB3A4"/>
                </a:solidFill>
                <a:latin typeface="Calibri"/>
              </a:rPr>
              <a:t>BOOKLY  · 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The AI writes the answer.</a:t>
            </a:r>
          </a:p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Code makes the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389120"/>
            <a:ext cx="1463040" cy="36576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How a question becomes an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Four moving parts. Only one of them guesses.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487168"/>
            <a:ext cx="2407843" cy="192024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6424" y="2706624"/>
            <a:ext cx="19323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B3A4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3054096"/>
            <a:ext cx="19323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4201C"/>
                </a:solidFill>
                <a:latin typeface="Cambria"/>
              </a:rPr>
              <a:t>System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547872"/>
            <a:ext cx="19323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Tone and judgement.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No business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0843" y="2487168"/>
            <a:ext cx="2407843" cy="1920240"/>
          </a:xfrm>
          <a:prstGeom prst="roundRect">
            <a:avLst>
              <a:gd name="adj" fmla="val 4761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88587" y="2706624"/>
            <a:ext cx="19323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B3A4"/>
                </a:solidFill>
                <a:latin typeface="Calibri"/>
              </a:rPr>
              <a:t>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8587" y="3054096"/>
            <a:ext cx="19323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The agent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587" y="3547872"/>
            <a:ext cx="19323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Hand-written, ~60 lines.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No framework.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487168"/>
            <a:ext cx="2407843" cy="192024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70751" y="2706624"/>
            <a:ext cx="19323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B3A4"/>
                </a:solidFill>
                <a:latin typeface="Calibri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054096"/>
            <a:ext cx="19323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4201C"/>
                </a:solidFill>
                <a:latin typeface="Cambria"/>
              </a:rPr>
              <a:t>Five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547872"/>
            <a:ext cx="19323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Identity checks and refund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preconditions live 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171" y="2487168"/>
            <a:ext cx="2407843" cy="192024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52915" y="2706624"/>
            <a:ext cx="19323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B3A4"/>
                </a:solidFill>
                <a:latin typeface="Calibri"/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3054096"/>
            <a:ext cx="19323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4201C"/>
                </a:solidFill>
                <a:latin typeface="Cambria"/>
              </a:rPr>
              <a:t>Split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3547872"/>
            <a:ext cx="19323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Transcript for the model.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Facts for the app.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331387" y="3378708"/>
            <a:ext cx="164592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6013551" y="3378708"/>
            <a:ext cx="164592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695715" y="3378708"/>
            <a:ext cx="164592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736592"/>
            <a:ext cx="10451592" cy="1097280"/>
          </a:xfrm>
          <a:prstGeom prst="roundRect">
            <a:avLst>
              <a:gd name="adj" fmla="val 8333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179576" y="4937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WHAT THE FLOW NEVER DOES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5248656"/>
            <a:ext cx="9829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4201C"/>
                </a:solidFill>
                <a:latin typeface="Calibri"/>
              </a:rPr>
              <a:t>A customer turn enters on the left and leaves as a reply. Nothing in between ever asks the model what the rules are.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053328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6E7671"/>
                </a:solidFill>
                <a:latin typeface="Calibri"/>
              </a:rPr>
              <a:t>Memory is deliberately split. </a:t>
            </a:r>
            <a:r>
              <a:rPr sz="1350" b="0" i="0">
                <a:solidFill>
                  <a:srgbClr val="6E7671"/>
                </a:solidFill>
                <a:latin typeface="Calibri"/>
              </a:rPr>
              <a:t>The model sees the transcript. Whether identity was verified is held by the application, in SQLite — the model cannot talk its way around a 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Three decisions worth defending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Each one moves authority out of the model and into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487168"/>
            <a:ext cx="3228746" cy="3639312"/>
          </a:xfrm>
          <a:prstGeom prst="roundRect">
            <a:avLst>
              <a:gd name="adj" fmla="val 283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724912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8FB3A4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82112"/>
            <a:ext cx="268010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Eligibility is code,</a:t>
            </a:r>
          </a:p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not a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1480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70832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Policy changes need a deploy, not a prompt edit.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0109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66944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4201C"/>
                </a:solidFill>
                <a:latin typeface="Calibri"/>
              </a:rPr>
              <a:t>Auditable, unit-testable, and there is no prompt to jailbreak.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1474" y="2487168"/>
            <a:ext cx="3228746" cy="3639312"/>
          </a:xfrm>
          <a:prstGeom prst="roundRect">
            <a:avLst>
              <a:gd name="adj" fmla="val 283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55794" y="2724912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8FB3A4"/>
                </a:solidFill>
                <a:latin typeface="Cambr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5794" y="3182112"/>
            <a:ext cx="268010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The refund tool has</a:t>
            </a:r>
          </a:p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preconditions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5794" y="411480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5794" y="4370832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More code than a single line of instruction.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5794" y="50109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5794" y="5266944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4201C"/>
                </a:solidFill>
                <a:latin typeface="Calibri"/>
              </a:rPr>
              <a:t>“Always confirm first” is a suggestion. This is enforced.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4268" y="2487168"/>
            <a:ext cx="3228746" cy="3639312"/>
          </a:xfrm>
          <a:prstGeom prst="roundRect">
            <a:avLst>
              <a:gd name="adj" fmla="val 283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68588" y="2724912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8FB3A4"/>
                </a:solidFill>
                <a:latin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8588" y="3182112"/>
            <a:ext cx="268010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Required arguments</a:t>
            </a:r>
          </a:p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14201C"/>
                </a:solidFill>
                <a:latin typeface="Cambria"/>
              </a:rPr>
              <a:t>make the dialogue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8588" y="411480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8588" y="4370832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Less freedom in how the agent phrases its way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8588" y="50109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5266944"/>
            <a:ext cx="26801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4201C"/>
                </a:solidFill>
                <a:latin typeface="Calibri"/>
              </a:rPr>
              <a:t>Multi-turn collection with no dialogue script written.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27648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5F4F"/>
                </a:solidFill>
                <a:latin typeface="Calibri"/>
              </a:rPr>
              <a:t>The through-line: </a:t>
            </a:r>
            <a:r>
              <a:rPr sz="1350" b="0" i="0">
                <a:solidFill>
                  <a:srgbClr val="6E7671"/>
                </a:solidFill>
                <a:latin typeface="Calibri"/>
              </a:rPr>
              <a:t>an AI wants to please you, and a refund policy shouldn't. Every decision above takes one more judgement away from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Same refusal. Two languages.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Real replies from the running agent. English is the default — the customer just asked for German.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61288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“I want a refund for BK-1002”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BK-1002 isn't eligible for a refund — your copy of Piranesi was delivered on 23 July, 45 days ago, which falls outside the 30-day return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2443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5051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DEUTSCH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5051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„Ich möchte eine Erstattung für BK-1002“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Leider kann ich für BK-1002 keine Erstattung veranlassen: Die Bestellung wurde vor 45 Tagen zugestellt und liegt damit außerhalb des 30-tägigen Rückgabefensters.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02352"/>
            <a:ext cx="10451592" cy="969264"/>
          </a:xfrm>
          <a:prstGeom prst="roundRect">
            <a:avLst>
              <a:gd name="adj" fmla="val 9433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266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684"/>
                </a:solidFill>
                <a:latin typeface="Calibri"/>
              </a:rPr>
              <a:t>ONE TOOL RESULT — SHARED BY BOTH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555955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DB4AB"/>
                </a:solidFill>
                <a:latin typeface="Courier New"/>
              </a:rPr>
              <a:t>check_return_eligibility  →  </a:t>
            </a:r>
            <a:r>
              <a:rPr sz="1300" b="1" i="0">
                <a:solidFill>
                  <a:srgbClr val="E0885F"/>
                </a:solidFill>
                <a:latin typeface="Courier New"/>
              </a:rPr>
              <a:t>"eligible": false</a:t>
            </a:r>
            <a:r>
              <a:rPr sz="1300" b="0" i="0">
                <a:solidFill>
                  <a:srgbClr val="9DB4AB"/>
                </a:solidFill>
                <a:latin typeface="Courier New"/>
              </a:rPr>
              <a:t>   "reason": "OUTSIDE_RETURN_WINDOW"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272784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policy.py has never heard of German.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 It returns a code; turning that code into a sentence is a presentation job.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What I'd build next.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In order. The first one isn't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97864" y="30266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99923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An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990088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The rules are covered by unit tests. The model's judgement isn't measured at all — so the next prompt change would be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7763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97864" y="421538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87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Streaming replies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17880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Answers arrive as a block after a pause. Streaming them word by word is the difference between a script and a product.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5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404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37667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Cost per 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536752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Support is priced per contact. You can't argue for AI deflection without that number.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19088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Durable sessions and German were the previous two on this list. 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Both are 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