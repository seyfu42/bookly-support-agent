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deck hangs off one sentence. Every design decision that follows is downstream of refusing to let the model be the authority on facts, permissions,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one thing to land: the tool layer is where the guardrails live, and policy.py is ordinary Python with no model in it. Memory is split -- the transcript is the model's, the verified facts are the application's.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cards. Pick decision 2 and tell the story: the customer who insists, the model that wants to please, and the four unit tests that make it not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brain-swap is the strongest evidence in the deck. Delete the API key and a dumb rule-based planner drives the same tools -- every guardrail still holds, because none of them were ever in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eval point -- it is the answer that separates people who have shipped an agent from people who have demoed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8FB3A4"/>
                </a:solidFill>
                <a:latin typeface="Calibri"/>
              </a:rPr>
              <a:t>BOOKLY  ·  SOLUTIONS ENGINEERING 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72768"/>
            <a:ext cx="10241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The model should never</a:t>
            </a:r>
          </a:p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decide what's true.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041648"/>
            <a:ext cx="1371600" cy="32004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4425696"/>
            <a:ext cx="9052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E8F0ED"/>
                </a:solidFill>
                <a:latin typeface="Calibri"/>
              </a:rPr>
              <a:t>A customer support agent for Bookly, built so that language understanding and business authority are deliberately different parts of the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89320"/>
            <a:ext cx="50109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50" b="0" i="0">
                <a:solidFill>
                  <a:srgbClr val="9DAAA3"/>
                </a:solidFill>
                <a:latin typeface="Calibri"/>
              </a:rPr>
              <a:t>Python  ·  Anthropic API  ·  no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How a question becomes an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Four components, and only the first one is probabilistic.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6695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5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System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5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Tone and judgement only.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No business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76472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FFFFFF"/>
                </a:solidFill>
                <a:latin typeface="Calibri"/>
              </a:rPr>
              <a:t>Agent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Hand-written, ~60 lines.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F0ED"/>
                </a:solidFill>
                <a:latin typeface="Calibri"/>
              </a:rPr>
              <a:t>Iteration cap, full trace.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Tool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Identity checks and refund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preconditions live 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6568" y="2395728"/>
            <a:ext cx="23957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36024" y="2596896"/>
            <a:ext cx="1956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6024" y="2926080"/>
            <a:ext cx="19568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libri"/>
              </a:rPr>
              <a:t>Split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3264408"/>
            <a:ext cx="19568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Transcript for the model.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Verified facts for the app.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64408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6044183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823960" y="3067812"/>
            <a:ext cx="201167" cy="137160"/>
          </a:xfrm>
          <a:prstGeom prst="rightArrow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480560"/>
            <a:ext cx="10634472" cy="1298448"/>
          </a:xfrm>
          <a:prstGeom prst="roundRect">
            <a:avLst>
              <a:gd name="adj" fmla="val 633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88136" y="468172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THE LOAD-BEARING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5029200"/>
            <a:ext cx="10012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5F4F"/>
                </a:solidFill>
                <a:latin typeface="Courier New"/>
              </a:rPr>
              <a:t>check_return_eligibility</a:t>
            </a:r>
            <a:r>
              <a:rPr sz="1500" b="0" i="0">
                <a:solidFill>
                  <a:srgbClr val="14201C"/>
                </a:solidFill>
                <a:latin typeface="Calibri"/>
              </a:rPr>
              <a:t> is ordinary Python. No model, no prompt, no temperature. It is the only authority on whether something can be returned — and the agent is not permitted to contradict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053328"/>
            <a:ext cx="106344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7671"/>
                </a:solidFill>
                <a:latin typeface="Calibri"/>
              </a:rPr>
              <a:t>The core knows nothing about HTTP. </a:t>
            </a:r>
            <a:r>
              <a:rPr sz="1300" b="0" i="0">
                <a:solidFill>
                  <a:srgbClr val="6E7671"/>
                </a:solidFill>
                <a:latin typeface="Calibri"/>
              </a:rPr>
              <a:t>The web chat and the CLI are both thin adapters over one run_turn(). A voice channel would be a sibling of those files, not a rewrite of anything underneath.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Three decisions worth defending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Each one moves authority out of the model and into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93392"/>
            <a:ext cx="3301898" cy="4389120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15184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Eligibility is code,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not a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56432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Refund rules live in policy.py and run as plain Python.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90288"/>
            <a:ext cx="275325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Every policy change is a deploy, not a prompt edit.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4864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It becomes auditable and unit-testable. There is no prompt to jailbreak, and no temperature at which 45 becomes less than 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4898" y="1993392"/>
            <a:ext cx="3301898" cy="4389120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19218" y="219456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9218" y="2615184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The write tool has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preconditions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9218" y="3456432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issue_refund refuses unless identity was verified, eligibility passed, and the customer said yes.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9218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9218" y="4590288"/>
            <a:ext cx="275325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More code than a line of prompt instruction.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9218" y="5230368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9218" y="54864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"Always confirm first" is a suggestion. This is a precondition. The model is now allowed to be wrong without the customer paying for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2556" y="1993392"/>
            <a:ext cx="3301898" cy="4389120"/>
          </a:xfrm>
          <a:prstGeom prst="roundRect">
            <a:avLst>
              <a:gd name="adj" fmla="val 2492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86876" y="219456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8FB3A4"/>
                </a:solidFill>
                <a:latin typeface="Cambr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76" y="2615184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Required arguments</a:t>
            </a:r>
          </a:p>
          <a:p>
            <a:pPr algn="l">
              <a:lnSpc>
                <a:spcPct val="114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generate the dialogue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6876" y="3456432"/>
            <a:ext cx="275325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4201C"/>
                </a:solidFill>
                <a:latin typeface="Calibri"/>
              </a:rPr>
              <a:t>lookup_order cannot be called without both an order id and an email.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6876" y="4334256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A4552B"/>
                </a:solidFill>
                <a:latin typeface="Calibri"/>
              </a:rPr>
              <a:t>TRADED 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6876" y="4590288"/>
            <a:ext cx="275325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Less freedom in how the agent phrases its way there.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6876" y="5230368"/>
            <a:ext cx="27532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F5F4F"/>
                </a:solidFill>
                <a:latin typeface="Calibri"/>
              </a:rPr>
              <a:t>WORTH IT BECAUSE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6876" y="54864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6E7671"/>
                </a:solidFill>
                <a:latin typeface="Calibri"/>
              </a:rPr>
              <a:t>Nobody wrote a script for collecting them. The schema makes a half-informed call impossible, so the agent asks. Flow control by type signature.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Where the architecture shows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Three moments from the demo, and one experiment.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29968"/>
            <a:ext cx="5138928" cy="1481328"/>
          </a:xfrm>
          <a:prstGeom prst="roundRect">
            <a:avLst>
              <a:gd name="adj" fmla="val 5555"/>
            </a:avLst>
          </a:prstGeom>
          <a:solidFill>
            <a:srgbClr val="F5E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9848" y="2231136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A4552B"/>
                </a:solidFill>
                <a:latin typeface="Calibri"/>
              </a:rPr>
              <a:t>IT SAYS NO, AND MEANS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542032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4201C"/>
                </a:solidFill>
                <a:latin typeface="Calibri"/>
              </a:rPr>
              <a:t>A refund request on an order delivered 45 days ago. The agent checks, refuses, explains why, and offers a human. It cannot be argued out of the number 30.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3" y="2029968"/>
            <a:ext cx="513892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65392" y="2231136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IT ASKS INSTEAD OF GUESSING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542032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4201C"/>
                </a:solidFill>
                <a:latin typeface="Calibri"/>
              </a:rPr>
              <a:t>"I want to return my book" on an order containing two books. It names both and asks which — rather than picking one and being wrong half the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03904"/>
            <a:ext cx="10634472" cy="1975104"/>
          </a:xfrm>
          <a:prstGeom prst="roundRect">
            <a:avLst>
              <a:gd name="adj" fmla="val 4166"/>
            </a:avLst>
          </a:prstGeom>
          <a:solidFill>
            <a:srgbClr val="1F5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8FB3A4"/>
                </a:solidFill>
                <a:latin typeface="Calibri"/>
              </a:rPr>
              <a:t>THE EXPERIMENT WORTH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4370832"/>
            <a:ext cx="100584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Delete the API key and the agent falls back to a scripted, rule-based planner. It is far worse at understanding English — and every single guardrail still holds. Identity is still checked, the 30-day rule still bites, refunds still need confirmation.</a:t>
            </a:r>
          </a:p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Because none of that was ever in the prompt.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1">
                <a:solidFill>
                  <a:srgbClr val="6E7671"/>
                </a:solidFill>
                <a:latin typeface="Calibri"/>
              </a:rPr>
              <a:t>13 unit tests cover the policy engine and the refund gate — including four ways a persuasive customer might talk the model into a refund it must not make.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500" b="1" i="0">
                <a:solidFill>
                  <a:srgbClr val="14201C"/>
                </a:solidFill>
                <a:latin typeface="Cambria"/>
              </a:rPr>
              <a:t>What I'd do differently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16736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6E7671"/>
                </a:solidFill>
                <a:latin typeface="Calibri"/>
              </a:rPr>
              <a:t>In order. The first one is not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48256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231136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2185416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Build the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2185416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The policy half is tested. The model half is not measured at all — did it pick the right tool, did it ask when it should have asked, did it stay grounded? Without that, the next prompt change is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3154680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Persist the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3154680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State is in-process today. A real deployment needs it in Redis or Postgres, keyed by conversation, so a dropped connection is not a lost customer.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86784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1696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4123944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Instrument cost and latency per 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123944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Support economics are per-contact. If you cannot see what a resolution costs, you cannot argue for the deflection rate.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956048"/>
            <a:ext cx="10634472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5138928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8FB3A4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5093208"/>
            <a:ext cx="3063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1" i="0">
                <a:solidFill>
                  <a:srgbClr val="14201C"/>
                </a:solidFill>
                <a:latin typeface="Cambria"/>
              </a:rPr>
              <a:t>Add tone regression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5093208"/>
            <a:ext cx="64465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6E7671"/>
                </a:solidFill>
                <a:latin typeface="Calibri"/>
              </a:rPr>
              <a:t>An LLM-as-judge over recorded transcripts, so a prompt tweak that makes the agent subtly colder gets caught before a customer feels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44768"/>
            <a:ext cx="106344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F5F4F"/>
                </a:solidFill>
                <a:latin typeface="Calibri"/>
              </a:rPr>
              <a:t>The thesis is falsifiable: </a:t>
            </a:r>
            <a:r>
              <a:rPr sz="1350" b="0" i="0">
                <a:solidFill>
                  <a:srgbClr val="1F5F4F"/>
                </a:solidFill>
                <a:latin typeface="Calibri"/>
              </a:rPr>
              <a:t>if the guardrails were really in the architecture and not the prompt, swapping the model out shouldn't change what the system permits. It doesn't.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