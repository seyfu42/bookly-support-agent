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customer support agent for Bookly, a fictional online bookstore. The whole thing is built on one idea, and it's on this slide: the AI writes the answer, but code makes the decision."</a:t>
            </a:r>
          </a:p>
          <a:p/>
          <a:p>
            <a:r>
              <a:t>Hold this slide for about five seconds. Don't explain it yet — the next slide explains why it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architecture has four parts. The system prompt handles tone and behaviour, how to talk to the customer, when to ask instead of guessing. There are no business rules in it at all."</a:t>
            </a:r>
          </a:p>
          <a:p/>
          <a:p>
            <a:r>
              <a:t>"The agent loop is hand-written, under a hundred lines, and it handles the orchestration between the parts. The tools are where the guardrails actually sit, like identity checks and the refund preconditions. And the memory is split in two: the model gets the transcript, anything security relevant stays on the application side."</a:t>
            </a:r>
          </a:p>
          <a:p/>
          <a:p>
            <a:r>
              <a:t>"The most important part is that nothing here asks the model what the rules are."</a:t>
            </a:r>
          </a:p>
          <a:p/>
          <a:p>
            <a:r>
              <a:t>About twenty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 made three design decisions, and each one moves authority out of the model and into the code."</a:t>
            </a:r>
          </a:p>
          <a:p/>
          <a:p>
            <a:r>
              <a:t>1 - Eligibility lives in the code, not the prompt. A policy change needs a deploy instead of a quick prompt edit. In return I can audit it, I can unit-test it, and there is no prompt for anyone to jailbreak.</a:t>
            </a:r>
          </a:p>
          <a:p/>
          <a:p>
            <a:r>
              <a:t>2 - The refund tool does not trust the model. Before it moves money it checks two things itself: that we really verified the order against the customer's email, and that the eligibility check came back positive. If one is missing it refuses, even when the model asks it to go ahead.</a:t>
            </a:r>
          </a:p>
          <a:p/>
          <a:p>
            <a:r>
              <a:t>3 - The required arguments create the dialogue. I never wrote a conversation script; the tool cannot be called without an order number and an email, so the agent has to collect them first.</a:t>
            </a:r>
          </a:p>
          <a:p/>
          <a:p>
            <a:r>
              <a:t>Close with: the reason behind all three is the same. A model is trained to be helpful, so it will always try to find a way to say yes, and when it comes to money that becomes a problem.</a:t>
            </a:r>
          </a:p>
          <a:p/>
          <a:p>
            <a:r>
              <a:t>About twenty-five seconds. This is the slide they will ask about.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customer, same order, two languages. Nobody clicked a setting — the customer asked in German and the agent switched itself."</a:t>
            </a:r>
          </a:p>
          <a:p/>
          <a:p>
            <a:r>
              <a:t>"Look at the bottom. That is one tool result, shared by both. policy.py has never heard of German — it returns a code, and the code is the same code. Language changes the wording. It cannot touch the decision."</a:t>
            </a:r>
          </a:p>
          <a:p/>
          <a:p>
            <a:r>
              <a:t>"And if the customer pushes back — in either language — it still says no. I tested that."</a:t>
            </a:r>
          </a:p>
          <a:p/>
          <a:p>
            <a:r>
              <a:t>About twenty-five seconds, then cut to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I'd do next. The first one isn't close."</a:t>
            </a:r>
          </a:p>
          <a:p/>
          <a:p>
            <a:r>
              <a:t>"The policy rules are covered by unit tests, so I know those are right. But nothing measures the model's half — did it pick the right tool, did it ask a question when it should have. Without an eval set, my next prompt change is a guess."</a:t>
            </a:r>
          </a:p>
          <a:p/>
          <a:p>
            <a:r>
              <a:t>If asked why these three: the first two on this list -- durable sessions and German -- are already built, so this is the list after those.</a:t>
            </a:r>
          </a:p>
          <a:p/>
          <a:p>
            <a:r>
              <a:t>Then close: "That's the agent. Let me show you it running."</a:t>
            </a:r>
          </a:p>
          <a:p/>
          <a:p>
            <a:r>
              <a:t>About fifteen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52C"/>
        </a:solidFill>
        <a:effectLst/>
      </p:bgPr>
    </p:bg>
    <p:spTree>
      <p:nvGrpSpPr>
        <p:cNvPr id="1" name=""/>
        <p:cNvGrpSpPr/>
        <p:nvPr/>
      </p:nvGrpSpPr>
      <p:grpSpPr/>
      <p:sp>
        <p:nvSpPr>
          <p:cNvPr id="2" name="TextBox 1"/>
          <p:cNvSpPr txBox="1"/>
          <p:nvPr/>
        </p:nvSpPr>
        <p:spPr>
          <a:xfrm>
            <a:off x="868680" y="1188720"/>
            <a:ext cx="7315200" cy="320040"/>
          </a:xfrm>
          <a:prstGeom prst="rect">
            <a:avLst/>
          </a:prstGeom>
          <a:noFill/>
        </p:spPr>
        <p:txBody>
          <a:bodyPr wrap="square" lIns="0" rIns="0" tIns="0" bIns="0" anchor="t">
            <a:spAutoFit/>
          </a:bodyPr>
          <a:lstStyle/>
          <a:p>
            <a:pPr algn="l">
              <a:lnSpc>
                <a:spcPct val="120000"/>
              </a:lnSpc>
            </a:pPr>
            <a:r>
              <a:rPr sz="1300" b="1" i="0">
                <a:solidFill>
                  <a:srgbClr val="8FB3A4"/>
                </a:solidFill>
                <a:latin typeface="Calibri"/>
              </a:rPr>
              <a:t>BOOKLY  ·  CUSTOMER SUPPORT AGENT</a:t>
            </a:r>
          </a:p>
        </p:txBody>
      </p:sp>
      <p:sp>
        <p:nvSpPr>
          <p:cNvPr id="3" name="TextBox 2"/>
          <p:cNvSpPr txBox="1"/>
          <p:nvPr/>
        </p:nvSpPr>
        <p:spPr>
          <a:xfrm>
            <a:off x="868680" y="1874519"/>
            <a:ext cx="10424160" cy="2194560"/>
          </a:xfrm>
          <a:prstGeom prst="rect">
            <a:avLst/>
          </a:prstGeom>
          <a:noFill/>
        </p:spPr>
        <p:txBody>
          <a:bodyPr wrap="square" lIns="0" rIns="0" tIns="0" bIns="0" anchor="t">
            <a:spAutoFit/>
          </a:bodyPr>
          <a:lstStyle/>
          <a:p>
            <a:pPr algn="l">
              <a:lnSpc>
                <a:spcPct val="110000"/>
              </a:lnSpc>
            </a:pPr>
            <a:r>
              <a:rPr sz="4600" b="1" i="0">
                <a:solidFill>
                  <a:srgbClr val="FFFFFF"/>
                </a:solidFill>
                <a:latin typeface="Cambria"/>
              </a:rPr>
              <a:t>The AI writes the answer.</a:t>
            </a:r>
          </a:p>
          <a:p>
            <a:pPr algn="l">
              <a:lnSpc>
                <a:spcPct val="110000"/>
              </a:lnSpc>
            </a:pPr>
            <a:r>
              <a:rPr sz="4600" b="1" i="0">
                <a:solidFill>
                  <a:srgbClr val="FFFFFF"/>
                </a:solidFill>
                <a:latin typeface="Cambria"/>
              </a:rPr>
              <a:t>Code makes the decision.</a:t>
            </a:r>
          </a:p>
        </p:txBody>
      </p:sp>
      <p:sp>
        <p:nvSpPr>
          <p:cNvPr id="4" name="Rectangle 3"/>
          <p:cNvSpPr/>
          <p:nvPr/>
        </p:nvSpPr>
        <p:spPr>
          <a:xfrm>
            <a:off x="868680" y="4389120"/>
            <a:ext cx="1463040" cy="36576"/>
          </a:xfrm>
          <a:prstGeom prst="rect">
            <a:avLst/>
          </a:prstGeom>
          <a:solidFill>
            <a:srgbClr val="8FB3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5897880"/>
            <a:ext cx="10424160" cy="384048"/>
          </a:xfrm>
          <a:prstGeom prst="rect">
            <a:avLst/>
          </a:prstGeom>
          <a:noFill/>
        </p:spPr>
        <p:txBody>
          <a:bodyPr wrap="square" lIns="0" rIns="0" tIns="0" bIns="0" anchor="t">
            <a:spAutoFit/>
          </a:bodyPr>
          <a:lstStyle/>
          <a:p>
            <a:pPr algn="l">
              <a:lnSpc>
                <a:spcPct val="120000"/>
              </a:lnSpc>
            </a:pPr>
            <a:r>
              <a:rPr sz="1350" b="0" i="0">
                <a:solidFill>
                  <a:srgbClr val="9DAAA3"/>
                </a:solidFill>
                <a:latin typeface="Calibri"/>
              </a:rPr>
              <a:t>Seyfullah Ural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3"/>
        </a:solidFill>
        <a:effectLst/>
      </p:bgPr>
    </p:bg>
    <p:spTree>
      <p:nvGrpSpPr>
        <p:cNvPr id="1" name=""/>
        <p:cNvGrpSpPr/>
        <p:nvPr/>
      </p:nvGrpSpPr>
      <p:grpSpPr/>
      <p:sp>
        <p:nvSpPr>
          <p:cNvPr id="2" name="TextBox 1"/>
          <p:cNvSpPr txBox="1"/>
          <p:nvPr/>
        </p:nvSpPr>
        <p:spPr>
          <a:xfrm>
            <a:off x="868680" y="868680"/>
            <a:ext cx="10241280" cy="914400"/>
          </a:xfrm>
          <a:prstGeom prst="rect">
            <a:avLst/>
          </a:prstGeom>
          <a:noFill/>
        </p:spPr>
        <p:txBody>
          <a:bodyPr wrap="square" lIns="0" rIns="0" tIns="0" bIns="0" anchor="t">
            <a:spAutoFit/>
          </a:bodyPr>
          <a:lstStyle/>
          <a:p>
            <a:pPr algn="l">
              <a:lnSpc>
                <a:spcPct val="110000"/>
              </a:lnSpc>
            </a:pPr>
            <a:r>
              <a:rPr sz="4000" b="1" i="0">
                <a:solidFill>
                  <a:srgbClr val="14201C"/>
                </a:solidFill>
                <a:latin typeface="Cambria"/>
              </a:rPr>
              <a:t>How a question becomes an answer</a:t>
            </a:r>
          </a:p>
        </p:txBody>
      </p:sp>
      <p:sp>
        <p:nvSpPr>
          <p:cNvPr id="3" name="TextBox 2"/>
          <p:cNvSpPr txBox="1"/>
          <p:nvPr/>
        </p:nvSpPr>
        <p:spPr>
          <a:xfrm>
            <a:off x="868680" y="1874519"/>
            <a:ext cx="10451592" cy="411480"/>
          </a:xfrm>
          <a:prstGeom prst="rect">
            <a:avLst/>
          </a:prstGeom>
          <a:noFill/>
        </p:spPr>
        <p:txBody>
          <a:bodyPr wrap="square" lIns="0" rIns="0" tIns="0" bIns="0" anchor="t">
            <a:spAutoFit/>
          </a:bodyPr>
          <a:lstStyle/>
          <a:p>
            <a:pPr algn="l">
              <a:lnSpc>
                <a:spcPct val="120000"/>
              </a:lnSpc>
            </a:pPr>
            <a:r>
              <a:rPr sz="1700" b="0" i="0">
                <a:solidFill>
                  <a:srgbClr val="6E7671"/>
                </a:solidFill>
                <a:latin typeface="Calibri"/>
              </a:rPr>
              <a:t>Four moving parts. Only one of them guesses.</a:t>
            </a:r>
          </a:p>
        </p:txBody>
      </p:sp>
      <p:sp>
        <p:nvSpPr>
          <p:cNvPr id="4" name="Rounded Rectangle 3"/>
          <p:cNvSpPr/>
          <p:nvPr/>
        </p:nvSpPr>
        <p:spPr>
          <a:xfrm>
            <a:off x="868680" y="2487168"/>
            <a:ext cx="2407843" cy="1920240"/>
          </a:xfrm>
          <a:prstGeom prst="roundRect">
            <a:avLst>
              <a:gd name="adj" fmla="val 4761"/>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6424" y="2706624"/>
            <a:ext cx="1932355" cy="274320"/>
          </a:xfrm>
          <a:prstGeom prst="rect">
            <a:avLst/>
          </a:prstGeom>
          <a:noFill/>
        </p:spPr>
        <p:txBody>
          <a:bodyPr wrap="square" lIns="0" rIns="0" tIns="0" bIns="0" anchor="t">
            <a:spAutoFit/>
          </a:bodyPr>
          <a:lstStyle/>
          <a:p>
            <a:pPr algn="l">
              <a:lnSpc>
                <a:spcPct val="120000"/>
              </a:lnSpc>
            </a:pPr>
            <a:r>
              <a:rPr sz="1050" b="1" i="0">
                <a:solidFill>
                  <a:srgbClr val="8FB3A4"/>
                </a:solidFill>
                <a:latin typeface="Calibri"/>
              </a:rPr>
              <a:t>PROMPTS</a:t>
            </a:r>
          </a:p>
        </p:txBody>
      </p:sp>
      <p:sp>
        <p:nvSpPr>
          <p:cNvPr id="6" name="TextBox 5"/>
          <p:cNvSpPr txBox="1"/>
          <p:nvPr/>
        </p:nvSpPr>
        <p:spPr>
          <a:xfrm>
            <a:off x="1106424" y="3054096"/>
            <a:ext cx="1932355" cy="365760"/>
          </a:xfrm>
          <a:prstGeom prst="rect">
            <a:avLst/>
          </a:prstGeom>
          <a:noFill/>
        </p:spPr>
        <p:txBody>
          <a:bodyPr wrap="square" lIns="0" rIns="0" tIns="0" bIns="0" anchor="t">
            <a:spAutoFit/>
          </a:bodyPr>
          <a:lstStyle/>
          <a:p>
            <a:pPr algn="l">
              <a:lnSpc>
                <a:spcPct val="120000"/>
              </a:lnSpc>
            </a:pPr>
            <a:r>
              <a:rPr sz="1700" b="1" i="0">
                <a:solidFill>
                  <a:srgbClr val="14201C"/>
                </a:solidFill>
                <a:latin typeface="Cambria"/>
              </a:rPr>
              <a:t>System prompt</a:t>
            </a:r>
          </a:p>
        </p:txBody>
      </p:sp>
      <p:sp>
        <p:nvSpPr>
          <p:cNvPr id="7" name="TextBox 6"/>
          <p:cNvSpPr txBox="1"/>
          <p:nvPr/>
        </p:nvSpPr>
        <p:spPr>
          <a:xfrm>
            <a:off x="1106424" y="3547872"/>
            <a:ext cx="1932355" cy="658368"/>
          </a:xfrm>
          <a:prstGeom prst="rect">
            <a:avLst/>
          </a:prstGeom>
          <a:noFill/>
        </p:spPr>
        <p:txBody>
          <a:bodyPr wrap="square" lIns="0" rIns="0" tIns="0" bIns="0" anchor="t">
            <a:spAutoFit/>
          </a:bodyPr>
          <a:lstStyle/>
          <a:p>
            <a:pPr algn="l">
              <a:lnSpc>
                <a:spcPct val="130000"/>
              </a:lnSpc>
            </a:pPr>
            <a:r>
              <a:rPr sz="1250" b="0" i="0">
                <a:solidFill>
                  <a:srgbClr val="6E7671"/>
                </a:solidFill>
                <a:latin typeface="Calibri"/>
              </a:rPr>
              <a:t>Tone and behaviour.</a:t>
            </a:r>
          </a:p>
          <a:p>
            <a:pPr algn="l">
              <a:lnSpc>
                <a:spcPct val="130000"/>
              </a:lnSpc>
            </a:pPr>
            <a:r>
              <a:rPr sz="1250" b="0" i="0">
                <a:solidFill>
                  <a:srgbClr val="6E7671"/>
                </a:solidFill>
                <a:latin typeface="Calibri"/>
              </a:rPr>
              <a:t>No business rules.</a:t>
            </a:r>
          </a:p>
        </p:txBody>
      </p:sp>
      <p:sp>
        <p:nvSpPr>
          <p:cNvPr id="8" name="Rounded Rectangle 7"/>
          <p:cNvSpPr/>
          <p:nvPr/>
        </p:nvSpPr>
        <p:spPr>
          <a:xfrm>
            <a:off x="3550843" y="2487168"/>
            <a:ext cx="2407843" cy="1920240"/>
          </a:xfrm>
          <a:prstGeom prst="roundRect">
            <a:avLst>
              <a:gd name="adj" fmla="val 4761"/>
            </a:avLst>
          </a:prstGeom>
          <a:solidFill>
            <a:srgbClr val="1F5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88587" y="2706624"/>
            <a:ext cx="1932355" cy="274320"/>
          </a:xfrm>
          <a:prstGeom prst="rect">
            <a:avLst/>
          </a:prstGeom>
          <a:noFill/>
        </p:spPr>
        <p:txBody>
          <a:bodyPr wrap="square" lIns="0" rIns="0" tIns="0" bIns="0" anchor="t">
            <a:spAutoFit/>
          </a:bodyPr>
          <a:lstStyle/>
          <a:p>
            <a:pPr algn="l">
              <a:lnSpc>
                <a:spcPct val="120000"/>
              </a:lnSpc>
            </a:pPr>
            <a:r>
              <a:rPr sz="1050" b="1" i="0">
                <a:solidFill>
                  <a:srgbClr val="8FB3A4"/>
                </a:solidFill>
                <a:latin typeface="Calibri"/>
              </a:rPr>
              <a:t>ORCHESTRATION</a:t>
            </a:r>
          </a:p>
        </p:txBody>
      </p:sp>
      <p:sp>
        <p:nvSpPr>
          <p:cNvPr id="10" name="TextBox 9"/>
          <p:cNvSpPr txBox="1"/>
          <p:nvPr/>
        </p:nvSpPr>
        <p:spPr>
          <a:xfrm>
            <a:off x="3788587" y="3054096"/>
            <a:ext cx="1932355" cy="365760"/>
          </a:xfrm>
          <a:prstGeom prst="rect">
            <a:avLst/>
          </a:prstGeom>
          <a:noFill/>
        </p:spPr>
        <p:txBody>
          <a:bodyPr wrap="square" lIns="0" rIns="0" tIns="0" bIns="0" anchor="t">
            <a:spAutoFit/>
          </a:bodyPr>
          <a:lstStyle/>
          <a:p>
            <a:pPr algn="l">
              <a:lnSpc>
                <a:spcPct val="120000"/>
              </a:lnSpc>
            </a:pPr>
            <a:r>
              <a:rPr sz="1700" b="1" i="0">
                <a:solidFill>
                  <a:srgbClr val="FFFFFF"/>
                </a:solidFill>
                <a:latin typeface="Cambria"/>
              </a:rPr>
              <a:t>The agent loop</a:t>
            </a:r>
          </a:p>
        </p:txBody>
      </p:sp>
      <p:sp>
        <p:nvSpPr>
          <p:cNvPr id="11" name="TextBox 10"/>
          <p:cNvSpPr txBox="1"/>
          <p:nvPr/>
        </p:nvSpPr>
        <p:spPr>
          <a:xfrm>
            <a:off x="3788587" y="3547872"/>
            <a:ext cx="1932355" cy="658368"/>
          </a:xfrm>
          <a:prstGeom prst="rect">
            <a:avLst/>
          </a:prstGeom>
          <a:noFill/>
        </p:spPr>
        <p:txBody>
          <a:bodyPr wrap="square" lIns="0" rIns="0" tIns="0" bIns="0" anchor="t">
            <a:spAutoFit/>
          </a:bodyPr>
          <a:lstStyle/>
          <a:p>
            <a:pPr algn="l">
              <a:lnSpc>
                <a:spcPct val="130000"/>
              </a:lnSpc>
            </a:pPr>
            <a:r>
              <a:rPr sz="1250" b="0" i="0">
                <a:solidFill>
                  <a:srgbClr val="E8F0ED"/>
                </a:solidFill>
                <a:latin typeface="Calibri"/>
              </a:rPr>
              <a:t>Hand-written, under 100</a:t>
            </a:r>
          </a:p>
          <a:p>
            <a:pPr algn="l">
              <a:lnSpc>
                <a:spcPct val="130000"/>
              </a:lnSpc>
            </a:pPr>
            <a:r>
              <a:rPr sz="1250" b="0" i="0">
                <a:solidFill>
                  <a:srgbClr val="E8F0ED"/>
                </a:solidFill>
                <a:latin typeface="Calibri"/>
              </a:rPr>
              <a:t>lines. No framework.</a:t>
            </a:r>
          </a:p>
        </p:txBody>
      </p:sp>
      <p:sp>
        <p:nvSpPr>
          <p:cNvPr id="12" name="Rounded Rectangle 11"/>
          <p:cNvSpPr/>
          <p:nvPr/>
        </p:nvSpPr>
        <p:spPr>
          <a:xfrm>
            <a:off x="6233007" y="2487168"/>
            <a:ext cx="2407843" cy="1920240"/>
          </a:xfrm>
          <a:prstGeom prst="roundRect">
            <a:avLst>
              <a:gd name="adj" fmla="val 4761"/>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70751" y="2706624"/>
            <a:ext cx="1932355" cy="274320"/>
          </a:xfrm>
          <a:prstGeom prst="rect">
            <a:avLst/>
          </a:prstGeom>
          <a:noFill/>
        </p:spPr>
        <p:txBody>
          <a:bodyPr wrap="square" lIns="0" rIns="0" tIns="0" bIns="0" anchor="t">
            <a:spAutoFit/>
          </a:bodyPr>
          <a:lstStyle/>
          <a:p>
            <a:pPr algn="l">
              <a:lnSpc>
                <a:spcPct val="120000"/>
              </a:lnSpc>
            </a:pPr>
            <a:r>
              <a:rPr sz="1050" b="1" i="0">
                <a:solidFill>
                  <a:srgbClr val="8FB3A4"/>
                </a:solidFill>
                <a:latin typeface="Calibri"/>
              </a:rPr>
              <a:t>TOOLS</a:t>
            </a:r>
          </a:p>
        </p:txBody>
      </p:sp>
      <p:sp>
        <p:nvSpPr>
          <p:cNvPr id="14" name="TextBox 13"/>
          <p:cNvSpPr txBox="1"/>
          <p:nvPr/>
        </p:nvSpPr>
        <p:spPr>
          <a:xfrm>
            <a:off x="6470751" y="3054096"/>
            <a:ext cx="1932355" cy="365760"/>
          </a:xfrm>
          <a:prstGeom prst="rect">
            <a:avLst/>
          </a:prstGeom>
          <a:noFill/>
        </p:spPr>
        <p:txBody>
          <a:bodyPr wrap="square" lIns="0" rIns="0" tIns="0" bIns="0" anchor="t">
            <a:spAutoFit/>
          </a:bodyPr>
          <a:lstStyle/>
          <a:p>
            <a:pPr algn="l">
              <a:lnSpc>
                <a:spcPct val="120000"/>
              </a:lnSpc>
            </a:pPr>
            <a:r>
              <a:rPr sz="1700" b="1" i="0">
                <a:solidFill>
                  <a:srgbClr val="14201C"/>
                </a:solidFill>
                <a:latin typeface="Cambria"/>
              </a:rPr>
              <a:t>Five tools</a:t>
            </a:r>
          </a:p>
        </p:txBody>
      </p:sp>
      <p:sp>
        <p:nvSpPr>
          <p:cNvPr id="15" name="TextBox 14"/>
          <p:cNvSpPr txBox="1"/>
          <p:nvPr/>
        </p:nvSpPr>
        <p:spPr>
          <a:xfrm>
            <a:off x="6470751" y="3547872"/>
            <a:ext cx="1932355" cy="658368"/>
          </a:xfrm>
          <a:prstGeom prst="rect">
            <a:avLst/>
          </a:prstGeom>
          <a:noFill/>
        </p:spPr>
        <p:txBody>
          <a:bodyPr wrap="square" lIns="0" rIns="0" tIns="0" bIns="0" anchor="t">
            <a:spAutoFit/>
          </a:bodyPr>
          <a:lstStyle/>
          <a:p>
            <a:pPr algn="l">
              <a:lnSpc>
                <a:spcPct val="130000"/>
              </a:lnSpc>
            </a:pPr>
            <a:r>
              <a:rPr sz="1250" b="0" i="0">
                <a:solidFill>
                  <a:srgbClr val="6E7671"/>
                </a:solidFill>
                <a:latin typeface="Calibri"/>
              </a:rPr>
              <a:t>Identity checks and refund</a:t>
            </a:r>
          </a:p>
          <a:p>
            <a:pPr algn="l">
              <a:lnSpc>
                <a:spcPct val="130000"/>
              </a:lnSpc>
            </a:pPr>
            <a:r>
              <a:rPr sz="1250" b="0" i="0">
                <a:solidFill>
                  <a:srgbClr val="6E7671"/>
                </a:solidFill>
                <a:latin typeface="Calibri"/>
              </a:rPr>
              <a:t>preconditions live here.</a:t>
            </a:r>
          </a:p>
        </p:txBody>
      </p:sp>
      <p:sp>
        <p:nvSpPr>
          <p:cNvPr id="16" name="Rounded Rectangle 15"/>
          <p:cNvSpPr/>
          <p:nvPr/>
        </p:nvSpPr>
        <p:spPr>
          <a:xfrm>
            <a:off x="8915171" y="2487168"/>
            <a:ext cx="2407843" cy="1920240"/>
          </a:xfrm>
          <a:prstGeom prst="roundRect">
            <a:avLst>
              <a:gd name="adj" fmla="val 4761"/>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52915" y="2706624"/>
            <a:ext cx="1932355" cy="274320"/>
          </a:xfrm>
          <a:prstGeom prst="rect">
            <a:avLst/>
          </a:prstGeom>
          <a:noFill/>
        </p:spPr>
        <p:txBody>
          <a:bodyPr wrap="square" lIns="0" rIns="0" tIns="0" bIns="0" anchor="t">
            <a:spAutoFit/>
          </a:bodyPr>
          <a:lstStyle/>
          <a:p>
            <a:pPr algn="l">
              <a:lnSpc>
                <a:spcPct val="120000"/>
              </a:lnSpc>
            </a:pPr>
            <a:r>
              <a:rPr sz="1050" b="1" i="0">
                <a:solidFill>
                  <a:srgbClr val="8FB3A4"/>
                </a:solidFill>
                <a:latin typeface="Calibri"/>
              </a:rPr>
              <a:t>MEMORY</a:t>
            </a:r>
          </a:p>
        </p:txBody>
      </p:sp>
      <p:sp>
        <p:nvSpPr>
          <p:cNvPr id="18" name="TextBox 17"/>
          <p:cNvSpPr txBox="1"/>
          <p:nvPr/>
        </p:nvSpPr>
        <p:spPr>
          <a:xfrm>
            <a:off x="9152915" y="3054096"/>
            <a:ext cx="1932355" cy="365760"/>
          </a:xfrm>
          <a:prstGeom prst="rect">
            <a:avLst/>
          </a:prstGeom>
          <a:noFill/>
        </p:spPr>
        <p:txBody>
          <a:bodyPr wrap="square" lIns="0" rIns="0" tIns="0" bIns="0" anchor="t">
            <a:spAutoFit/>
          </a:bodyPr>
          <a:lstStyle/>
          <a:p>
            <a:pPr algn="l">
              <a:lnSpc>
                <a:spcPct val="120000"/>
              </a:lnSpc>
            </a:pPr>
            <a:r>
              <a:rPr sz="1700" b="1" i="0">
                <a:solidFill>
                  <a:srgbClr val="14201C"/>
                </a:solidFill>
                <a:latin typeface="Cambria"/>
              </a:rPr>
              <a:t>Split state</a:t>
            </a:r>
          </a:p>
        </p:txBody>
      </p:sp>
      <p:sp>
        <p:nvSpPr>
          <p:cNvPr id="19" name="TextBox 18"/>
          <p:cNvSpPr txBox="1"/>
          <p:nvPr/>
        </p:nvSpPr>
        <p:spPr>
          <a:xfrm>
            <a:off x="9152915" y="3547872"/>
            <a:ext cx="1932355" cy="658368"/>
          </a:xfrm>
          <a:prstGeom prst="rect">
            <a:avLst/>
          </a:prstGeom>
          <a:noFill/>
        </p:spPr>
        <p:txBody>
          <a:bodyPr wrap="square" lIns="0" rIns="0" tIns="0" bIns="0" anchor="t">
            <a:spAutoFit/>
          </a:bodyPr>
          <a:lstStyle/>
          <a:p>
            <a:pPr algn="l">
              <a:lnSpc>
                <a:spcPct val="130000"/>
              </a:lnSpc>
            </a:pPr>
            <a:r>
              <a:rPr sz="1250" b="0" i="0">
                <a:solidFill>
                  <a:srgbClr val="6E7671"/>
                </a:solidFill>
                <a:latin typeface="Calibri"/>
              </a:rPr>
              <a:t>Transcript for the model.</a:t>
            </a:r>
          </a:p>
          <a:p>
            <a:pPr algn="l">
              <a:lnSpc>
                <a:spcPct val="130000"/>
              </a:lnSpc>
            </a:pPr>
            <a:r>
              <a:rPr sz="1250" b="0" i="0">
                <a:solidFill>
                  <a:srgbClr val="6E7671"/>
                </a:solidFill>
                <a:latin typeface="Calibri"/>
              </a:rPr>
              <a:t>Facts for the app.</a:t>
            </a:r>
          </a:p>
        </p:txBody>
      </p:sp>
      <p:sp>
        <p:nvSpPr>
          <p:cNvPr id="20" name="Right Arrow 19"/>
          <p:cNvSpPr/>
          <p:nvPr/>
        </p:nvSpPr>
        <p:spPr>
          <a:xfrm>
            <a:off x="3331387" y="3378708"/>
            <a:ext cx="164592" cy="137160"/>
          </a:xfrm>
          <a:prstGeom prst="rightArrow">
            <a:avLst/>
          </a:prstGeom>
          <a:solidFill>
            <a:srgbClr val="8FB3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6013551" y="3378708"/>
            <a:ext cx="164592" cy="137160"/>
          </a:xfrm>
          <a:prstGeom prst="rightArrow">
            <a:avLst/>
          </a:prstGeom>
          <a:solidFill>
            <a:srgbClr val="8FB3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8695715" y="3378708"/>
            <a:ext cx="164592" cy="137160"/>
          </a:xfrm>
          <a:prstGeom prst="rightArrow">
            <a:avLst/>
          </a:prstGeom>
          <a:solidFill>
            <a:srgbClr val="8FB3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4736592"/>
            <a:ext cx="10451592" cy="1097280"/>
          </a:xfrm>
          <a:prstGeom prst="roundRect">
            <a:avLst>
              <a:gd name="adj" fmla="val 8333"/>
            </a:avLst>
          </a:prstGeom>
          <a:solidFill>
            <a:srgbClr val="E8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79576" y="4937760"/>
            <a:ext cx="5486400" cy="274320"/>
          </a:xfrm>
          <a:prstGeom prst="rect">
            <a:avLst/>
          </a:prstGeom>
          <a:noFill/>
        </p:spPr>
        <p:txBody>
          <a:bodyPr wrap="square" lIns="0" rIns="0" tIns="0" bIns="0" anchor="t">
            <a:spAutoFit/>
          </a:bodyPr>
          <a:lstStyle/>
          <a:p>
            <a:pPr algn="l">
              <a:lnSpc>
                <a:spcPct val="120000"/>
              </a:lnSpc>
            </a:pPr>
            <a:r>
              <a:rPr sz="1100" b="1" i="0">
                <a:solidFill>
                  <a:srgbClr val="1F5F4F"/>
                </a:solidFill>
                <a:latin typeface="Calibri"/>
              </a:rPr>
              <a:t>WHAT THE FLOW NEVER DOES</a:t>
            </a:r>
          </a:p>
        </p:txBody>
      </p:sp>
      <p:sp>
        <p:nvSpPr>
          <p:cNvPr id="25" name="TextBox 24"/>
          <p:cNvSpPr txBox="1"/>
          <p:nvPr/>
        </p:nvSpPr>
        <p:spPr>
          <a:xfrm>
            <a:off x="1179576" y="5248656"/>
            <a:ext cx="9829800" cy="457200"/>
          </a:xfrm>
          <a:prstGeom prst="rect">
            <a:avLst/>
          </a:prstGeom>
          <a:noFill/>
        </p:spPr>
        <p:txBody>
          <a:bodyPr wrap="square" lIns="0" rIns="0" tIns="0" bIns="0" anchor="t">
            <a:spAutoFit/>
          </a:bodyPr>
          <a:lstStyle/>
          <a:p>
            <a:pPr algn="l">
              <a:lnSpc>
                <a:spcPct val="130000"/>
              </a:lnSpc>
            </a:pPr>
            <a:r>
              <a:rPr sz="1500" b="0" i="0">
                <a:solidFill>
                  <a:srgbClr val="14201C"/>
                </a:solidFill>
                <a:latin typeface="Calibri"/>
              </a:rPr>
              <a:t>A customer turn enters on the left and leaves as a reply. Nothing in between ever asks the model what the rules are.</a:t>
            </a:r>
          </a:p>
        </p:txBody>
      </p:sp>
      <p:sp>
        <p:nvSpPr>
          <p:cNvPr id="26" name="TextBox 25"/>
          <p:cNvSpPr txBox="1"/>
          <p:nvPr/>
        </p:nvSpPr>
        <p:spPr>
          <a:xfrm>
            <a:off x="868680" y="6053328"/>
            <a:ext cx="10451592" cy="411480"/>
          </a:xfrm>
          <a:prstGeom prst="rect">
            <a:avLst/>
          </a:prstGeom>
          <a:noFill/>
        </p:spPr>
        <p:txBody>
          <a:bodyPr wrap="square" lIns="0" rIns="0" tIns="0" bIns="0" anchor="t">
            <a:spAutoFit/>
          </a:bodyPr>
          <a:lstStyle/>
          <a:p>
            <a:pPr algn="l">
              <a:lnSpc>
                <a:spcPct val="120000"/>
              </a:lnSpc>
            </a:pPr>
            <a:r>
              <a:rPr sz="1350" b="1" i="0">
                <a:solidFill>
                  <a:srgbClr val="6E7671"/>
                </a:solidFill>
                <a:latin typeface="Calibri"/>
              </a:rPr>
              <a:t>Memory is deliberately split. </a:t>
            </a:r>
            <a:r>
              <a:rPr sz="1350" b="0" i="0">
                <a:solidFill>
                  <a:srgbClr val="6E7671"/>
                </a:solidFill>
                <a:latin typeface="Calibri"/>
              </a:rPr>
              <a:t>The model sees the transcript. Whether identity was verified is held by the application, in SQLite — the model cannot talk its way around a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3"/>
        </a:solidFill>
        <a:effectLst/>
      </p:bgPr>
    </p:bg>
    <p:spTree>
      <p:nvGrpSpPr>
        <p:cNvPr id="1" name=""/>
        <p:cNvGrpSpPr/>
        <p:nvPr/>
      </p:nvGrpSpPr>
      <p:grpSpPr/>
      <p:sp>
        <p:nvSpPr>
          <p:cNvPr id="2" name="TextBox 1"/>
          <p:cNvSpPr txBox="1"/>
          <p:nvPr/>
        </p:nvSpPr>
        <p:spPr>
          <a:xfrm>
            <a:off x="868680" y="868680"/>
            <a:ext cx="10241280" cy="914400"/>
          </a:xfrm>
          <a:prstGeom prst="rect">
            <a:avLst/>
          </a:prstGeom>
          <a:noFill/>
        </p:spPr>
        <p:txBody>
          <a:bodyPr wrap="square" lIns="0" rIns="0" tIns="0" bIns="0" anchor="t">
            <a:spAutoFit/>
          </a:bodyPr>
          <a:lstStyle/>
          <a:p>
            <a:pPr algn="l">
              <a:lnSpc>
                <a:spcPct val="110000"/>
              </a:lnSpc>
            </a:pPr>
            <a:r>
              <a:rPr sz="4000" b="1" i="0">
                <a:solidFill>
                  <a:srgbClr val="14201C"/>
                </a:solidFill>
                <a:latin typeface="Cambria"/>
              </a:rPr>
              <a:t>Three decisions worth defending</a:t>
            </a:r>
          </a:p>
        </p:txBody>
      </p:sp>
      <p:sp>
        <p:nvSpPr>
          <p:cNvPr id="3" name="TextBox 2"/>
          <p:cNvSpPr txBox="1"/>
          <p:nvPr/>
        </p:nvSpPr>
        <p:spPr>
          <a:xfrm>
            <a:off x="868680" y="1874519"/>
            <a:ext cx="10451592" cy="411480"/>
          </a:xfrm>
          <a:prstGeom prst="rect">
            <a:avLst/>
          </a:prstGeom>
          <a:noFill/>
        </p:spPr>
        <p:txBody>
          <a:bodyPr wrap="square" lIns="0" rIns="0" tIns="0" bIns="0" anchor="t">
            <a:spAutoFit/>
          </a:bodyPr>
          <a:lstStyle/>
          <a:p>
            <a:pPr algn="l">
              <a:lnSpc>
                <a:spcPct val="120000"/>
              </a:lnSpc>
            </a:pPr>
            <a:r>
              <a:rPr sz="1700" b="0" i="0">
                <a:solidFill>
                  <a:srgbClr val="6E7671"/>
                </a:solidFill>
                <a:latin typeface="Calibri"/>
              </a:rPr>
              <a:t>Each one moves authority out of the model and into code.</a:t>
            </a:r>
          </a:p>
        </p:txBody>
      </p:sp>
      <p:sp>
        <p:nvSpPr>
          <p:cNvPr id="4" name="Rounded Rectangle 3"/>
          <p:cNvSpPr/>
          <p:nvPr/>
        </p:nvSpPr>
        <p:spPr>
          <a:xfrm>
            <a:off x="868680" y="2487168"/>
            <a:ext cx="3228746" cy="3639312"/>
          </a:xfrm>
          <a:prstGeom prst="roundRect">
            <a:avLst>
              <a:gd name="adj" fmla="val 2832"/>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724912"/>
            <a:ext cx="914400" cy="384048"/>
          </a:xfrm>
          <a:prstGeom prst="rect">
            <a:avLst/>
          </a:prstGeom>
          <a:noFill/>
        </p:spPr>
        <p:txBody>
          <a:bodyPr wrap="square" lIns="0" rIns="0" tIns="0" bIns="0" anchor="t">
            <a:spAutoFit/>
          </a:bodyPr>
          <a:lstStyle/>
          <a:p>
            <a:pPr algn="l">
              <a:lnSpc>
                <a:spcPct val="120000"/>
              </a:lnSpc>
            </a:pPr>
            <a:r>
              <a:rPr sz="2600" b="1" i="0">
                <a:solidFill>
                  <a:srgbClr val="8FB3A4"/>
                </a:solidFill>
                <a:latin typeface="Cambria"/>
              </a:rPr>
              <a:t>01</a:t>
            </a:r>
          </a:p>
        </p:txBody>
      </p:sp>
      <p:sp>
        <p:nvSpPr>
          <p:cNvPr id="6" name="TextBox 5"/>
          <p:cNvSpPr txBox="1"/>
          <p:nvPr/>
        </p:nvSpPr>
        <p:spPr>
          <a:xfrm>
            <a:off x="1143000" y="3182112"/>
            <a:ext cx="2680106" cy="786384"/>
          </a:xfrm>
          <a:prstGeom prst="rect">
            <a:avLst/>
          </a:prstGeom>
          <a:noFill/>
        </p:spPr>
        <p:txBody>
          <a:bodyPr wrap="square" lIns="0" rIns="0" tIns="0" bIns="0" anchor="t">
            <a:spAutoFit/>
          </a:bodyPr>
          <a:lstStyle/>
          <a:p>
            <a:pPr algn="l">
              <a:lnSpc>
                <a:spcPct val="116000"/>
              </a:lnSpc>
            </a:pPr>
            <a:r>
              <a:rPr sz="1800" b="1" i="0">
                <a:solidFill>
                  <a:srgbClr val="14201C"/>
                </a:solidFill>
                <a:latin typeface="Cambria"/>
              </a:rPr>
              <a:t>Eligibility is code,</a:t>
            </a:r>
          </a:p>
          <a:p>
            <a:pPr algn="l">
              <a:lnSpc>
                <a:spcPct val="116000"/>
              </a:lnSpc>
            </a:pPr>
            <a:r>
              <a:rPr sz="1800" b="1" i="0">
                <a:solidFill>
                  <a:srgbClr val="14201C"/>
                </a:solidFill>
                <a:latin typeface="Cambria"/>
              </a:rPr>
              <a:t>not a prompt</a:t>
            </a:r>
          </a:p>
        </p:txBody>
      </p:sp>
      <p:sp>
        <p:nvSpPr>
          <p:cNvPr id="7" name="TextBox 6"/>
          <p:cNvSpPr txBox="1"/>
          <p:nvPr/>
        </p:nvSpPr>
        <p:spPr>
          <a:xfrm>
            <a:off x="1143000" y="4114800"/>
            <a:ext cx="2680106" cy="237744"/>
          </a:xfrm>
          <a:prstGeom prst="rect">
            <a:avLst/>
          </a:prstGeom>
          <a:noFill/>
        </p:spPr>
        <p:txBody>
          <a:bodyPr wrap="square" lIns="0" rIns="0" tIns="0" bIns="0" anchor="t">
            <a:spAutoFit/>
          </a:bodyPr>
          <a:lstStyle/>
          <a:p>
            <a:pPr algn="l">
              <a:lnSpc>
                <a:spcPct val="120000"/>
              </a:lnSpc>
            </a:pPr>
            <a:r>
              <a:rPr sz="1000" b="1" i="0">
                <a:solidFill>
                  <a:srgbClr val="A4552B"/>
                </a:solidFill>
                <a:latin typeface="Calibri"/>
              </a:rPr>
              <a:t>TRADED AWAY</a:t>
            </a:r>
          </a:p>
        </p:txBody>
      </p:sp>
      <p:sp>
        <p:nvSpPr>
          <p:cNvPr id="8" name="TextBox 7"/>
          <p:cNvSpPr txBox="1"/>
          <p:nvPr/>
        </p:nvSpPr>
        <p:spPr>
          <a:xfrm>
            <a:off x="1143000" y="4370832"/>
            <a:ext cx="2680106" cy="566928"/>
          </a:xfrm>
          <a:prstGeom prst="rect">
            <a:avLst/>
          </a:prstGeom>
          <a:noFill/>
        </p:spPr>
        <p:txBody>
          <a:bodyPr wrap="square" lIns="0" rIns="0" tIns="0" bIns="0" anchor="t">
            <a:spAutoFit/>
          </a:bodyPr>
          <a:lstStyle/>
          <a:p>
            <a:pPr algn="l">
              <a:lnSpc>
                <a:spcPct val="128000"/>
              </a:lnSpc>
            </a:pPr>
            <a:r>
              <a:rPr sz="1250" b="0" i="0">
                <a:solidFill>
                  <a:srgbClr val="6E7671"/>
                </a:solidFill>
                <a:latin typeface="Calibri"/>
              </a:rPr>
              <a:t>Policy changes need a deploy, not a prompt edit.</a:t>
            </a:r>
          </a:p>
        </p:txBody>
      </p:sp>
      <p:sp>
        <p:nvSpPr>
          <p:cNvPr id="9" name="TextBox 8"/>
          <p:cNvSpPr txBox="1"/>
          <p:nvPr/>
        </p:nvSpPr>
        <p:spPr>
          <a:xfrm>
            <a:off x="1143000" y="5010912"/>
            <a:ext cx="2680106" cy="237744"/>
          </a:xfrm>
          <a:prstGeom prst="rect">
            <a:avLst/>
          </a:prstGeom>
          <a:noFill/>
        </p:spPr>
        <p:txBody>
          <a:bodyPr wrap="square" lIns="0" rIns="0" tIns="0" bIns="0" anchor="t">
            <a:spAutoFit/>
          </a:bodyPr>
          <a:lstStyle/>
          <a:p>
            <a:pPr algn="l">
              <a:lnSpc>
                <a:spcPct val="120000"/>
              </a:lnSpc>
            </a:pPr>
            <a:r>
              <a:rPr sz="1000" b="1" i="0">
                <a:solidFill>
                  <a:srgbClr val="1F5F4F"/>
                </a:solidFill>
                <a:latin typeface="Calibri"/>
              </a:rPr>
              <a:t>WORTH IT BECAUSE</a:t>
            </a:r>
          </a:p>
        </p:txBody>
      </p:sp>
      <p:sp>
        <p:nvSpPr>
          <p:cNvPr id="10" name="TextBox 9"/>
          <p:cNvSpPr txBox="1"/>
          <p:nvPr/>
        </p:nvSpPr>
        <p:spPr>
          <a:xfrm>
            <a:off x="1143000" y="5266944"/>
            <a:ext cx="2680106" cy="566928"/>
          </a:xfrm>
          <a:prstGeom prst="rect">
            <a:avLst/>
          </a:prstGeom>
          <a:noFill/>
        </p:spPr>
        <p:txBody>
          <a:bodyPr wrap="square" lIns="0" rIns="0" tIns="0" bIns="0" anchor="t">
            <a:spAutoFit/>
          </a:bodyPr>
          <a:lstStyle/>
          <a:p>
            <a:pPr algn="l">
              <a:lnSpc>
                <a:spcPct val="128000"/>
              </a:lnSpc>
            </a:pPr>
            <a:r>
              <a:rPr sz="1250" b="0" i="0">
                <a:solidFill>
                  <a:srgbClr val="14201C"/>
                </a:solidFill>
                <a:latin typeface="Calibri"/>
              </a:rPr>
              <a:t>Auditable, unit-testable, and there is no prompt to jailbreak.</a:t>
            </a:r>
          </a:p>
        </p:txBody>
      </p:sp>
      <p:sp>
        <p:nvSpPr>
          <p:cNvPr id="11" name="Rounded Rectangle 10"/>
          <p:cNvSpPr/>
          <p:nvPr/>
        </p:nvSpPr>
        <p:spPr>
          <a:xfrm>
            <a:off x="4481474" y="2487168"/>
            <a:ext cx="3228746" cy="3639312"/>
          </a:xfrm>
          <a:prstGeom prst="roundRect">
            <a:avLst>
              <a:gd name="adj" fmla="val 2832"/>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55794" y="2724912"/>
            <a:ext cx="914400" cy="384048"/>
          </a:xfrm>
          <a:prstGeom prst="rect">
            <a:avLst/>
          </a:prstGeom>
          <a:noFill/>
        </p:spPr>
        <p:txBody>
          <a:bodyPr wrap="square" lIns="0" rIns="0" tIns="0" bIns="0" anchor="t">
            <a:spAutoFit/>
          </a:bodyPr>
          <a:lstStyle/>
          <a:p>
            <a:pPr algn="l">
              <a:lnSpc>
                <a:spcPct val="120000"/>
              </a:lnSpc>
            </a:pPr>
            <a:r>
              <a:rPr sz="2600" b="1" i="0">
                <a:solidFill>
                  <a:srgbClr val="8FB3A4"/>
                </a:solidFill>
                <a:latin typeface="Cambria"/>
              </a:rPr>
              <a:t>02</a:t>
            </a:r>
          </a:p>
        </p:txBody>
      </p:sp>
      <p:sp>
        <p:nvSpPr>
          <p:cNvPr id="13" name="TextBox 12"/>
          <p:cNvSpPr txBox="1"/>
          <p:nvPr/>
        </p:nvSpPr>
        <p:spPr>
          <a:xfrm>
            <a:off x="4755794" y="3182112"/>
            <a:ext cx="2680106" cy="786384"/>
          </a:xfrm>
          <a:prstGeom prst="rect">
            <a:avLst/>
          </a:prstGeom>
          <a:noFill/>
        </p:spPr>
        <p:txBody>
          <a:bodyPr wrap="square" lIns="0" rIns="0" tIns="0" bIns="0" anchor="t">
            <a:spAutoFit/>
          </a:bodyPr>
          <a:lstStyle/>
          <a:p>
            <a:pPr algn="l">
              <a:lnSpc>
                <a:spcPct val="116000"/>
              </a:lnSpc>
            </a:pPr>
            <a:r>
              <a:rPr sz="1800" b="1" i="0">
                <a:solidFill>
                  <a:srgbClr val="14201C"/>
                </a:solidFill>
                <a:latin typeface="Cambria"/>
              </a:rPr>
              <a:t>The refund tool has</a:t>
            </a:r>
          </a:p>
          <a:p>
            <a:pPr algn="l">
              <a:lnSpc>
                <a:spcPct val="116000"/>
              </a:lnSpc>
            </a:pPr>
            <a:r>
              <a:rPr sz="1800" b="1" i="0">
                <a:solidFill>
                  <a:srgbClr val="14201C"/>
                </a:solidFill>
                <a:latin typeface="Cambria"/>
              </a:rPr>
              <a:t>preconditions</a:t>
            </a:r>
          </a:p>
        </p:txBody>
      </p:sp>
      <p:sp>
        <p:nvSpPr>
          <p:cNvPr id="14" name="TextBox 13"/>
          <p:cNvSpPr txBox="1"/>
          <p:nvPr/>
        </p:nvSpPr>
        <p:spPr>
          <a:xfrm>
            <a:off x="4755794" y="4114800"/>
            <a:ext cx="2680106" cy="237744"/>
          </a:xfrm>
          <a:prstGeom prst="rect">
            <a:avLst/>
          </a:prstGeom>
          <a:noFill/>
        </p:spPr>
        <p:txBody>
          <a:bodyPr wrap="square" lIns="0" rIns="0" tIns="0" bIns="0" anchor="t">
            <a:spAutoFit/>
          </a:bodyPr>
          <a:lstStyle/>
          <a:p>
            <a:pPr algn="l">
              <a:lnSpc>
                <a:spcPct val="120000"/>
              </a:lnSpc>
            </a:pPr>
            <a:r>
              <a:rPr sz="1000" b="1" i="0">
                <a:solidFill>
                  <a:srgbClr val="A4552B"/>
                </a:solidFill>
                <a:latin typeface="Calibri"/>
              </a:rPr>
              <a:t>TRADED AWAY</a:t>
            </a:r>
          </a:p>
        </p:txBody>
      </p:sp>
      <p:sp>
        <p:nvSpPr>
          <p:cNvPr id="15" name="TextBox 14"/>
          <p:cNvSpPr txBox="1"/>
          <p:nvPr/>
        </p:nvSpPr>
        <p:spPr>
          <a:xfrm>
            <a:off x="4755794" y="4370832"/>
            <a:ext cx="2680106" cy="566928"/>
          </a:xfrm>
          <a:prstGeom prst="rect">
            <a:avLst/>
          </a:prstGeom>
          <a:noFill/>
        </p:spPr>
        <p:txBody>
          <a:bodyPr wrap="square" lIns="0" rIns="0" tIns="0" bIns="0" anchor="t">
            <a:spAutoFit/>
          </a:bodyPr>
          <a:lstStyle/>
          <a:p>
            <a:pPr algn="l">
              <a:lnSpc>
                <a:spcPct val="128000"/>
              </a:lnSpc>
            </a:pPr>
            <a:r>
              <a:rPr sz="1250" b="0" i="0">
                <a:solidFill>
                  <a:srgbClr val="6E7671"/>
                </a:solidFill>
                <a:latin typeface="Calibri"/>
              </a:rPr>
              <a:t>More code than a single line of instruction.</a:t>
            </a:r>
          </a:p>
        </p:txBody>
      </p:sp>
      <p:sp>
        <p:nvSpPr>
          <p:cNvPr id="16" name="TextBox 15"/>
          <p:cNvSpPr txBox="1"/>
          <p:nvPr/>
        </p:nvSpPr>
        <p:spPr>
          <a:xfrm>
            <a:off x="4755794" y="5010912"/>
            <a:ext cx="2680106" cy="237744"/>
          </a:xfrm>
          <a:prstGeom prst="rect">
            <a:avLst/>
          </a:prstGeom>
          <a:noFill/>
        </p:spPr>
        <p:txBody>
          <a:bodyPr wrap="square" lIns="0" rIns="0" tIns="0" bIns="0" anchor="t">
            <a:spAutoFit/>
          </a:bodyPr>
          <a:lstStyle/>
          <a:p>
            <a:pPr algn="l">
              <a:lnSpc>
                <a:spcPct val="120000"/>
              </a:lnSpc>
            </a:pPr>
            <a:r>
              <a:rPr sz="1000" b="1" i="0">
                <a:solidFill>
                  <a:srgbClr val="1F5F4F"/>
                </a:solidFill>
                <a:latin typeface="Calibri"/>
              </a:rPr>
              <a:t>WORTH IT BECAUSE</a:t>
            </a:r>
          </a:p>
        </p:txBody>
      </p:sp>
      <p:sp>
        <p:nvSpPr>
          <p:cNvPr id="17" name="TextBox 16"/>
          <p:cNvSpPr txBox="1"/>
          <p:nvPr/>
        </p:nvSpPr>
        <p:spPr>
          <a:xfrm>
            <a:off x="4755794" y="5266944"/>
            <a:ext cx="2680106" cy="566928"/>
          </a:xfrm>
          <a:prstGeom prst="rect">
            <a:avLst/>
          </a:prstGeom>
          <a:noFill/>
        </p:spPr>
        <p:txBody>
          <a:bodyPr wrap="square" lIns="0" rIns="0" tIns="0" bIns="0" anchor="t">
            <a:spAutoFit/>
          </a:bodyPr>
          <a:lstStyle/>
          <a:p>
            <a:pPr algn="l">
              <a:lnSpc>
                <a:spcPct val="128000"/>
              </a:lnSpc>
            </a:pPr>
            <a:r>
              <a:rPr sz="1250" b="0" i="0">
                <a:solidFill>
                  <a:srgbClr val="14201C"/>
                </a:solidFill>
                <a:latin typeface="Calibri"/>
              </a:rPr>
              <a:t>“Always confirm first” is a suggestion. This is enforced.</a:t>
            </a:r>
          </a:p>
        </p:txBody>
      </p:sp>
      <p:sp>
        <p:nvSpPr>
          <p:cNvPr id="18" name="Rounded Rectangle 17"/>
          <p:cNvSpPr/>
          <p:nvPr/>
        </p:nvSpPr>
        <p:spPr>
          <a:xfrm>
            <a:off x="8094268" y="2487168"/>
            <a:ext cx="3228746" cy="3639312"/>
          </a:xfrm>
          <a:prstGeom prst="roundRect">
            <a:avLst>
              <a:gd name="adj" fmla="val 2832"/>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68588" y="2724912"/>
            <a:ext cx="914400" cy="384048"/>
          </a:xfrm>
          <a:prstGeom prst="rect">
            <a:avLst/>
          </a:prstGeom>
          <a:noFill/>
        </p:spPr>
        <p:txBody>
          <a:bodyPr wrap="square" lIns="0" rIns="0" tIns="0" bIns="0" anchor="t">
            <a:spAutoFit/>
          </a:bodyPr>
          <a:lstStyle/>
          <a:p>
            <a:pPr algn="l">
              <a:lnSpc>
                <a:spcPct val="120000"/>
              </a:lnSpc>
            </a:pPr>
            <a:r>
              <a:rPr sz="2600" b="1" i="0">
                <a:solidFill>
                  <a:srgbClr val="8FB3A4"/>
                </a:solidFill>
                <a:latin typeface="Cambria"/>
              </a:rPr>
              <a:t>03</a:t>
            </a:r>
          </a:p>
        </p:txBody>
      </p:sp>
      <p:sp>
        <p:nvSpPr>
          <p:cNvPr id="20" name="TextBox 19"/>
          <p:cNvSpPr txBox="1"/>
          <p:nvPr/>
        </p:nvSpPr>
        <p:spPr>
          <a:xfrm>
            <a:off x="8368588" y="3182112"/>
            <a:ext cx="2680106" cy="786384"/>
          </a:xfrm>
          <a:prstGeom prst="rect">
            <a:avLst/>
          </a:prstGeom>
          <a:noFill/>
        </p:spPr>
        <p:txBody>
          <a:bodyPr wrap="square" lIns="0" rIns="0" tIns="0" bIns="0" anchor="t">
            <a:spAutoFit/>
          </a:bodyPr>
          <a:lstStyle/>
          <a:p>
            <a:pPr algn="l">
              <a:lnSpc>
                <a:spcPct val="116000"/>
              </a:lnSpc>
            </a:pPr>
            <a:r>
              <a:rPr sz="1800" b="1" i="0">
                <a:solidFill>
                  <a:srgbClr val="14201C"/>
                </a:solidFill>
                <a:latin typeface="Cambria"/>
              </a:rPr>
              <a:t>Required arguments</a:t>
            </a:r>
          </a:p>
          <a:p>
            <a:pPr algn="l">
              <a:lnSpc>
                <a:spcPct val="116000"/>
              </a:lnSpc>
            </a:pPr>
            <a:r>
              <a:rPr sz="1800" b="1" i="0">
                <a:solidFill>
                  <a:srgbClr val="14201C"/>
                </a:solidFill>
                <a:latin typeface="Cambria"/>
              </a:rPr>
              <a:t>make the dialogue</a:t>
            </a:r>
          </a:p>
        </p:txBody>
      </p:sp>
      <p:sp>
        <p:nvSpPr>
          <p:cNvPr id="21" name="TextBox 20"/>
          <p:cNvSpPr txBox="1"/>
          <p:nvPr/>
        </p:nvSpPr>
        <p:spPr>
          <a:xfrm>
            <a:off x="8368588" y="4114800"/>
            <a:ext cx="2680106" cy="237744"/>
          </a:xfrm>
          <a:prstGeom prst="rect">
            <a:avLst/>
          </a:prstGeom>
          <a:noFill/>
        </p:spPr>
        <p:txBody>
          <a:bodyPr wrap="square" lIns="0" rIns="0" tIns="0" bIns="0" anchor="t">
            <a:spAutoFit/>
          </a:bodyPr>
          <a:lstStyle/>
          <a:p>
            <a:pPr algn="l">
              <a:lnSpc>
                <a:spcPct val="120000"/>
              </a:lnSpc>
            </a:pPr>
            <a:r>
              <a:rPr sz="1000" b="1" i="0">
                <a:solidFill>
                  <a:srgbClr val="A4552B"/>
                </a:solidFill>
                <a:latin typeface="Calibri"/>
              </a:rPr>
              <a:t>TRADED AWAY</a:t>
            </a:r>
          </a:p>
        </p:txBody>
      </p:sp>
      <p:sp>
        <p:nvSpPr>
          <p:cNvPr id="22" name="TextBox 21"/>
          <p:cNvSpPr txBox="1"/>
          <p:nvPr/>
        </p:nvSpPr>
        <p:spPr>
          <a:xfrm>
            <a:off x="8368588" y="4370832"/>
            <a:ext cx="2680106" cy="566928"/>
          </a:xfrm>
          <a:prstGeom prst="rect">
            <a:avLst/>
          </a:prstGeom>
          <a:noFill/>
        </p:spPr>
        <p:txBody>
          <a:bodyPr wrap="square" lIns="0" rIns="0" tIns="0" bIns="0" anchor="t">
            <a:spAutoFit/>
          </a:bodyPr>
          <a:lstStyle/>
          <a:p>
            <a:pPr algn="l">
              <a:lnSpc>
                <a:spcPct val="128000"/>
              </a:lnSpc>
            </a:pPr>
            <a:r>
              <a:rPr sz="1250" b="0" i="0">
                <a:solidFill>
                  <a:srgbClr val="6E7671"/>
                </a:solidFill>
                <a:latin typeface="Calibri"/>
              </a:rPr>
              <a:t>Less freedom in how the agent phrases its way there.</a:t>
            </a:r>
          </a:p>
        </p:txBody>
      </p:sp>
      <p:sp>
        <p:nvSpPr>
          <p:cNvPr id="23" name="TextBox 22"/>
          <p:cNvSpPr txBox="1"/>
          <p:nvPr/>
        </p:nvSpPr>
        <p:spPr>
          <a:xfrm>
            <a:off x="8368588" y="5010912"/>
            <a:ext cx="2680106" cy="237744"/>
          </a:xfrm>
          <a:prstGeom prst="rect">
            <a:avLst/>
          </a:prstGeom>
          <a:noFill/>
        </p:spPr>
        <p:txBody>
          <a:bodyPr wrap="square" lIns="0" rIns="0" tIns="0" bIns="0" anchor="t">
            <a:spAutoFit/>
          </a:bodyPr>
          <a:lstStyle/>
          <a:p>
            <a:pPr algn="l">
              <a:lnSpc>
                <a:spcPct val="120000"/>
              </a:lnSpc>
            </a:pPr>
            <a:r>
              <a:rPr sz="1000" b="1" i="0">
                <a:solidFill>
                  <a:srgbClr val="1F5F4F"/>
                </a:solidFill>
                <a:latin typeface="Calibri"/>
              </a:rPr>
              <a:t>WORTH IT BECAUSE</a:t>
            </a:r>
          </a:p>
        </p:txBody>
      </p:sp>
      <p:sp>
        <p:nvSpPr>
          <p:cNvPr id="24" name="TextBox 23"/>
          <p:cNvSpPr txBox="1"/>
          <p:nvPr/>
        </p:nvSpPr>
        <p:spPr>
          <a:xfrm>
            <a:off x="8368588" y="5266944"/>
            <a:ext cx="2680106" cy="566928"/>
          </a:xfrm>
          <a:prstGeom prst="rect">
            <a:avLst/>
          </a:prstGeom>
          <a:noFill/>
        </p:spPr>
        <p:txBody>
          <a:bodyPr wrap="square" lIns="0" rIns="0" tIns="0" bIns="0" anchor="t">
            <a:spAutoFit/>
          </a:bodyPr>
          <a:lstStyle/>
          <a:p>
            <a:pPr algn="l">
              <a:lnSpc>
                <a:spcPct val="128000"/>
              </a:lnSpc>
            </a:pPr>
            <a:r>
              <a:rPr sz="1250" b="0" i="0">
                <a:solidFill>
                  <a:srgbClr val="14201C"/>
                </a:solidFill>
                <a:latin typeface="Calibri"/>
              </a:rPr>
              <a:t>Multi-turn collection with no dialogue script written.</a:t>
            </a:r>
          </a:p>
        </p:txBody>
      </p:sp>
      <p:sp>
        <p:nvSpPr>
          <p:cNvPr id="25" name="TextBox 24"/>
          <p:cNvSpPr txBox="1"/>
          <p:nvPr/>
        </p:nvSpPr>
        <p:spPr>
          <a:xfrm>
            <a:off x="868680" y="6327648"/>
            <a:ext cx="10451592" cy="411480"/>
          </a:xfrm>
          <a:prstGeom prst="rect">
            <a:avLst/>
          </a:prstGeom>
          <a:noFill/>
        </p:spPr>
        <p:txBody>
          <a:bodyPr wrap="square" lIns="0" rIns="0" tIns="0" bIns="0" anchor="t">
            <a:spAutoFit/>
          </a:bodyPr>
          <a:lstStyle/>
          <a:p>
            <a:pPr algn="l">
              <a:lnSpc>
                <a:spcPct val="120000"/>
              </a:lnSpc>
            </a:pPr>
            <a:r>
              <a:rPr sz="1350" b="1" i="0">
                <a:solidFill>
                  <a:srgbClr val="1F5F4F"/>
                </a:solidFill>
                <a:latin typeface="Calibri"/>
              </a:rPr>
              <a:t>The through-line: </a:t>
            </a:r>
            <a:r>
              <a:rPr sz="1350" b="0" i="0">
                <a:solidFill>
                  <a:srgbClr val="6E7671"/>
                </a:solidFill>
                <a:latin typeface="Calibri"/>
              </a:rPr>
              <a:t>an AI wants to please you, and a refund policy shouldn't. Every decision above takes one more judgement away from the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3"/>
        </a:solidFill>
        <a:effectLst/>
      </p:bgPr>
    </p:bg>
    <p:spTree>
      <p:nvGrpSpPr>
        <p:cNvPr id="1" name=""/>
        <p:cNvGrpSpPr/>
        <p:nvPr/>
      </p:nvGrpSpPr>
      <p:grpSpPr/>
      <p:sp>
        <p:nvSpPr>
          <p:cNvPr id="2" name="TextBox 1"/>
          <p:cNvSpPr txBox="1"/>
          <p:nvPr/>
        </p:nvSpPr>
        <p:spPr>
          <a:xfrm>
            <a:off x="868680" y="868680"/>
            <a:ext cx="10241280" cy="914400"/>
          </a:xfrm>
          <a:prstGeom prst="rect">
            <a:avLst/>
          </a:prstGeom>
          <a:noFill/>
        </p:spPr>
        <p:txBody>
          <a:bodyPr wrap="square" lIns="0" rIns="0" tIns="0" bIns="0" anchor="t">
            <a:spAutoFit/>
          </a:bodyPr>
          <a:lstStyle/>
          <a:p>
            <a:pPr algn="l">
              <a:lnSpc>
                <a:spcPct val="110000"/>
              </a:lnSpc>
            </a:pPr>
            <a:r>
              <a:rPr sz="4000" b="1" i="0">
                <a:solidFill>
                  <a:srgbClr val="14201C"/>
                </a:solidFill>
                <a:latin typeface="Cambria"/>
              </a:rPr>
              <a:t>Same refusal. Two languages.</a:t>
            </a:r>
          </a:p>
        </p:txBody>
      </p:sp>
      <p:sp>
        <p:nvSpPr>
          <p:cNvPr id="3" name="TextBox 2"/>
          <p:cNvSpPr txBox="1"/>
          <p:nvPr/>
        </p:nvSpPr>
        <p:spPr>
          <a:xfrm>
            <a:off x="868680" y="1874519"/>
            <a:ext cx="10451592" cy="411480"/>
          </a:xfrm>
          <a:prstGeom prst="rect">
            <a:avLst/>
          </a:prstGeom>
          <a:noFill/>
        </p:spPr>
        <p:txBody>
          <a:bodyPr wrap="square" lIns="0" rIns="0" tIns="0" bIns="0" anchor="t">
            <a:spAutoFit/>
          </a:bodyPr>
          <a:lstStyle/>
          <a:p>
            <a:pPr algn="l">
              <a:lnSpc>
                <a:spcPct val="120000"/>
              </a:lnSpc>
            </a:pPr>
            <a:r>
              <a:rPr sz="1700" b="0" i="0">
                <a:solidFill>
                  <a:srgbClr val="6E7671"/>
                </a:solidFill>
                <a:latin typeface="Calibri"/>
              </a:rPr>
              <a:t>Real replies from the running agent. English is the default — the customer just asked for German.</a:t>
            </a:r>
          </a:p>
        </p:txBody>
      </p:sp>
      <p:sp>
        <p:nvSpPr>
          <p:cNvPr id="4" name="Rounded Rectangle 3"/>
          <p:cNvSpPr/>
          <p:nvPr/>
        </p:nvSpPr>
        <p:spPr>
          <a:xfrm>
            <a:off x="868680" y="2395728"/>
            <a:ext cx="5030571" cy="2487168"/>
          </a:xfrm>
          <a:prstGeom prst="roundRect">
            <a:avLst>
              <a:gd name="adj" fmla="val 3676"/>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61288" y="2615184"/>
            <a:ext cx="1828800" cy="274320"/>
          </a:xfrm>
          <a:prstGeom prst="rect">
            <a:avLst/>
          </a:prstGeom>
          <a:noFill/>
        </p:spPr>
        <p:txBody>
          <a:bodyPr wrap="square" lIns="0" rIns="0" tIns="0" bIns="0" anchor="t">
            <a:spAutoFit/>
          </a:bodyPr>
          <a:lstStyle/>
          <a:p>
            <a:pPr algn="l">
              <a:lnSpc>
                <a:spcPct val="120000"/>
              </a:lnSpc>
            </a:pPr>
            <a:r>
              <a:rPr sz="1100" b="1" i="0">
                <a:solidFill>
                  <a:srgbClr val="1F5F4F"/>
                </a:solidFill>
                <a:latin typeface="Calibri"/>
              </a:rPr>
              <a:t>ENGLISH</a:t>
            </a:r>
          </a:p>
        </p:txBody>
      </p:sp>
      <p:sp>
        <p:nvSpPr>
          <p:cNvPr id="6" name="TextBox 5"/>
          <p:cNvSpPr txBox="1"/>
          <p:nvPr/>
        </p:nvSpPr>
        <p:spPr>
          <a:xfrm>
            <a:off x="1161288" y="2944368"/>
            <a:ext cx="4445355" cy="384048"/>
          </a:xfrm>
          <a:prstGeom prst="rect">
            <a:avLst/>
          </a:prstGeom>
          <a:noFill/>
        </p:spPr>
        <p:txBody>
          <a:bodyPr wrap="square" lIns="0" rIns="0" tIns="0" bIns="0" anchor="t">
            <a:spAutoFit/>
          </a:bodyPr>
          <a:lstStyle/>
          <a:p>
            <a:pPr algn="l">
              <a:lnSpc>
                <a:spcPct val="120000"/>
              </a:lnSpc>
            </a:pPr>
            <a:r>
              <a:rPr sz="1300" b="0" i="1">
                <a:solidFill>
                  <a:srgbClr val="6E7671"/>
                </a:solidFill>
                <a:latin typeface="Calibri"/>
              </a:rPr>
              <a:t>“I want a refund for BK-1002”</a:t>
            </a:r>
          </a:p>
        </p:txBody>
      </p:sp>
      <p:sp>
        <p:nvSpPr>
          <p:cNvPr id="7" name="TextBox 6"/>
          <p:cNvSpPr txBox="1"/>
          <p:nvPr/>
        </p:nvSpPr>
        <p:spPr>
          <a:xfrm>
            <a:off x="1161288" y="3438144"/>
            <a:ext cx="4445355" cy="1280160"/>
          </a:xfrm>
          <a:prstGeom prst="rect">
            <a:avLst/>
          </a:prstGeom>
          <a:noFill/>
        </p:spPr>
        <p:txBody>
          <a:bodyPr wrap="square" lIns="0" rIns="0" tIns="0" bIns="0" anchor="t">
            <a:spAutoFit/>
          </a:bodyPr>
          <a:lstStyle/>
          <a:p>
            <a:pPr algn="l">
              <a:lnSpc>
                <a:spcPct val="134000"/>
              </a:lnSpc>
            </a:pPr>
            <a:r>
              <a:rPr sz="1400" b="0" i="0">
                <a:solidFill>
                  <a:srgbClr val="14201C"/>
                </a:solidFill>
                <a:latin typeface="Calibri"/>
              </a:rPr>
              <a:t>BK-1002 isn't eligible for a refund — your copy of Piranesi was delivered on 23 July, 45 days ago, which falls outside the 30-day return window.</a:t>
            </a:r>
          </a:p>
        </p:txBody>
      </p:sp>
      <p:sp>
        <p:nvSpPr>
          <p:cNvPr id="8" name="Rounded Rectangle 7"/>
          <p:cNvSpPr/>
          <p:nvPr/>
        </p:nvSpPr>
        <p:spPr>
          <a:xfrm>
            <a:off x="6292443" y="2395728"/>
            <a:ext cx="5030571" cy="2487168"/>
          </a:xfrm>
          <a:prstGeom prst="roundRect">
            <a:avLst>
              <a:gd name="adj" fmla="val 3676"/>
            </a:avLst>
          </a:prstGeom>
          <a:solidFill>
            <a:srgbClr val="E8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5051" y="2615184"/>
            <a:ext cx="1828800" cy="274320"/>
          </a:xfrm>
          <a:prstGeom prst="rect">
            <a:avLst/>
          </a:prstGeom>
          <a:noFill/>
        </p:spPr>
        <p:txBody>
          <a:bodyPr wrap="square" lIns="0" rIns="0" tIns="0" bIns="0" anchor="t">
            <a:spAutoFit/>
          </a:bodyPr>
          <a:lstStyle/>
          <a:p>
            <a:pPr algn="l">
              <a:lnSpc>
                <a:spcPct val="120000"/>
              </a:lnSpc>
            </a:pPr>
            <a:r>
              <a:rPr sz="1100" b="1" i="0">
                <a:solidFill>
                  <a:srgbClr val="1F5F4F"/>
                </a:solidFill>
                <a:latin typeface="Calibri"/>
              </a:rPr>
              <a:t>DEUTSCH</a:t>
            </a:r>
          </a:p>
        </p:txBody>
      </p:sp>
      <p:sp>
        <p:nvSpPr>
          <p:cNvPr id="10" name="TextBox 9"/>
          <p:cNvSpPr txBox="1"/>
          <p:nvPr/>
        </p:nvSpPr>
        <p:spPr>
          <a:xfrm>
            <a:off x="6585051" y="2944368"/>
            <a:ext cx="4445355" cy="384048"/>
          </a:xfrm>
          <a:prstGeom prst="rect">
            <a:avLst/>
          </a:prstGeom>
          <a:noFill/>
        </p:spPr>
        <p:txBody>
          <a:bodyPr wrap="square" lIns="0" rIns="0" tIns="0" bIns="0" anchor="t">
            <a:spAutoFit/>
          </a:bodyPr>
          <a:lstStyle/>
          <a:p>
            <a:pPr algn="l">
              <a:lnSpc>
                <a:spcPct val="120000"/>
              </a:lnSpc>
            </a:pPr>
            <a:r>
              <a:rPr sz="1300" b="0" i="1">
                <a:solidFill>
                  <a:srgbClr val="6E7671"/>
                </a:solidFill>
                <a:latin typeface="Calibri"/>
              </a:rPr>
              <a:t>„Ich möchte eine Erstattung für BK-1002“</a:t>
            </a:r>
          </a:p>
        </p:txBody>
      </p:sp>
      <p:sp>
        <p:nvSpPr>
          <p:cNvPr id="11" name="TextBox 10"/>
          <p:cNvSpPr txBox="1"/>
          <p:nvPr/>
        </p:nvSpPr>
        <p:spPr>
          <a:xfrm>
            <a:off x="6585051" y="3438144"/>
            <a:ext cx="4445355" cy="1280160"/>
          </a:xfrm>
          <a:prstGeom prst="rect">
            <a:avLst/>
          </a:prstGeom>
          <a:noFill/>
        </p:spPr>
        <p:txBody>
          <a:bodyPr wrap="square" lIns="0" rIns="0" tIns="0" bIns="0" anchor="t">
            <a:spAutoFit/>
          </a:bodyPr>
          <a:lstStyle/>
          <a:p>
            <a:pPr algn="l">
              <a:lnSpc>
                <a:spcPct val="134000"/>
              </a:lnSpc>
            </a:pPr>
            <a:r>
              <a:rPr sz="1400" b="0" i="0">
                <a:solidFill>
                  <a:srgbClr val="14201C"/>
                </a:solidFill>
                <a:latin typeface="Calibri"/>
              </a:rPr>
              <a:t>Leider kann ich für BK-1002 keine Erstattung veranlassen: Die Bestellung wurde vor 45 Tagen zugestellt und liegt damit außerhalb des 30-tägigen Rückgabefensters.</a:t>
            </a:r>
          </a:p>
        </p:txBody>
      </p:sp>
      <p:sp>
        <p:nvSpPr>
          <p:cNvPr id="12" name="Rounded Rectangle 11"/>
          <p:cNvSpPr/>
          <p:nvPr/>
        </p:nvSpPr>
        <p:spPr>
          <a:xfrm>
            <a:off x="868680" y="5102352"/>
            <a:ext cx="10451592" cy="969264"/>
          </a:xfrm>
          <a:prstGeom prst="roundRect">
            <a:avLst>
              <a:gd name="adj" fmla="val 9433"/>
            </a:avLst>
          </a:prstGeom>
          <a:solidFill>
            <a:srgbClr val="14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97864" y="5266944"/>
            <a:ext cx="5486400" cy="274320"/>
          </a:xfrm>
          <a:prstGeom prst="rect">
            <a:avLst/>
          </a:prstGeom>
          <a:noFill/>
        </p:spPr>
        <p:txBody>
          <a:bodyPr wrap="square" lIns="0" rIns="0" tIns="0" bIns="0" anchor="t">
            <a:spAutoFit/>
          </a:bodyPr>
          <a:lstStyle/>
          <a:p>
            <a:pPr algn="l">
              <a:lnSpc>
                <a:spcPct val="120000"/>
              </a:lnSpc>
            </a:pPr>
            <a:r>
              <a:rPr sz="1100" b="1" i="0">
                <a:solidFill>
                  <a:srgbClr val="6B7684"/>
                </a:solidFill>
                <a:latin typeface="Calibri"/>
              </a:rPr>
              <a:t>ONE TOOL RESULT — SHARED BY BOTH</a:t>
            </a:r>
          </a:p>
        </p:txBody>
      </p:sp>
      <p:sp>
        <p:nvSpPr>
          <p:cNvPr id="14" name="TextBox 13"/>
          <p:cNvSpPr txBox="1"/>
          <p:nvPr/>
        </p:nvSpPr>
        <p:spPr>
          <a:xfrm>
            <a:off x="1197864" y="5559552"/>
            <a:ext cx="9784080" cy="365760"/>
          </a:xfrm>
          <a:prstGeom prst="rect">
            <a:avLst/>
          </a:prstGeom>
          <a:noFill/>
        </p:spPr>
        <p:txBody>
          <a:bodyPr wrap="square" lIns="0" rIns="0" tIns="0" bIns="0" anchor="t">
            <a:spAutoFit/>
          </a:bodyPr>
          <a:lstStyle/>
          <a:p>
            <a:pPr algn="l">
              <a:lnSpc>
                <a:spcPct val="120000"/>
              </a:lnSpc>
            </a:pPr>
            <a:r>
              <a:rPr sz="1300" b="0" i="0">
                <a:solidFill>
                  <a:srgbClr val="9DB4AB"/>
                </a:solidFill>
                <a:latin typeface="Courier New"/>
              </a:rPr>
              <a:t>check_return_eligibility  →  </a:t>
            </a:r>
            <a:r>
              <a:rPr sz="1300" b="1" i="0">
                <a:solidFill>
                  <a:srgbClr val="E0885F"/>
                </a:solidFill>
                <a:latin typeface="Courier New"/>
              </a:rPr>
              <a:t>"eligible": false</a:t>
            </a:r>
            <a:r>
              <a:rPr sz="1300" b="0" i="0">
                <a:solidFill>
                  <a:srgbClr val="9DB4AB"/>
                </a:solidFill>
                <a:latin typeface="Courier New"/>
              </a:rPr>
              <a:t>   "reason": "OUTSIDE_RETURN_WINDOW"</a:t>
            </a:r>
          </a:p>
        </p:txBody>
      </p:sp>
      <p:sp>
        <p:nvSpPr>
          <p:cNvPr id="15" name="TextBox 14"/>
          <p:cNvSpPr txBox="1"/>
          <p:nvPr/>
        </p:nvSpPr>
        <p:spPr>
          <a:xfrm>
            <a:off x="868680" y="6272784"/>
            <a:ext cx="10451592" cy="384048"/>
          </a:xfrm>
          <a:prstGeom prst="rect">
            <a:avLst/>
          </a:prstGeom>
          <a:noFill/>
        </p:spPr>
        <p:txBody>
          <a:bodyPr wrap="square" lIns="0" rIns="0" tIns="0" bIns="0" anchor="t">
            <a:spAutoFit/>
          </a:bodyPr>
          <a:lstStyle/>
          <a:p>
            <a:pPr algn="l">
              <a:lnSpc>
                <a:spcPct val="120000"/>
              </a:lnSpc>
            </a:pPr>
            <a:r>
              <a:rPr sz="1400" b="1" i="0">
                <a:solidFill>
                  <a:srgbClr val="1F5F4F"/>
                </a:solidFill>
                <a:latin typeface="Calibri"/>
              </a:rPr>
              <a:t>policy.py has never heard of German.</a:t>
            </a:r>
            <a:r>
              <a:rPr sz="1400" b="0" i="0">
                <a:solidFill>
                  <a:srgbClr val="6E7671"/>
                </a:solidFill>
                <a:latin typeface="Calibri"/>
              </a:rPr>
              <a:t> It returns a code; turning that code into a sentence is a presentation job.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3"/>
        </a:solidFill>
        <a:effectLst/>
      </p:bgPr>
    </p:bg>
    <p:spTree>
      <p:nvGrpSpPr>
        <p:cNvPr id="1" name=""/>
        <p:cNvGrpSpPr/>
        <p:nvPr/>
      </p:nvGrpSpPr>
      <p:grpSpPr/>
      <p:sp>
        <p:nvSpPr>
          <p:cNvPr id="2" name="TextBox 1"/>
          <p:cNvSpPr txBox="1"/>
          <p:nvPr/>
        </p:nvSpPr>
        <p:spPr>
          <a:xfrm>
            <a:off x="868680" y="868680"/>
            <a:ext cx="10241280" cy="914400"/>
          </a:xfrm>
          <a:prstGeom prst="rect">
            <a:avLst/>
          </a:prstGeom>
          <a:noFill/>
        </p:spPr>
        <p:txBody>
          <a:bodyPr wrap="square" lIns="0" rIns="0" tIns="0" bIns="0" anchor="t">
            <a:spAutoFit/>
          </a:bodyPr>
          <a:lstStyle/>
          <a:p>
            <a:pPr algn="l">
              <a:lnSpc>
                <a:spcPct val="110000"/>
              </a:lnSpc>
            </a:pPr>
            <a:r>
              <a:rPr sz="4000" b="1" i="0">
                <a:solidFill>
                  <a:srgbClr val="14201C"/>
                </a:solidFill>
                <a:latin typeface="Cambria"/>
              </a:rPr>
              <a:t>What I'd build next.</a:t>
            </a:r>
          </a:p>
        </p:txBody>
      </p:sp>
      <p:sp>
        <p:nvSpPr>
          <p:cNvPr id="3" name="TextBox 2"/>
          <p:cNvSpPr txBox="1"/>
          <p:nvPr/>
        </p:nvSpPr>
        <p:spPr>
          <a:xfrm>
            <a:off x="868680" y="1874519"/>
            <a:ext cx="10451592" cy="411480"/>
          </a:xfrm>
          <a:prstGeom prst="rect">
            <a:avLst/>
          </a:prstGeom>
          <a:noFill/>
        </p:spPr>
        <p:txBody>
          <a:bodyPr wrap="square" lIns="0" rIns="0" tIns="0" bIns="0" anchor="t">
            <a:spAutoFit/>
          </a:bodyPr>
          <a:lstStyle/>
          <a:p>
            <a:pPr algn="l">
              <a:lnSpc>
                <a:spcPct val="120000"/>
              </a:lnSpc>
            </a:pPr>
            <a:r>
              <a:rPr sz="1700" b="0" i="0">
                <a:solidFill>
                  <a:srgbClr val="6E7671"/>
                </a:solidFill>
                <a:latin typeface="Calibri"/>
              </a:rPr>
              <a:t>In order. The first one isn't close.</a:t>
            </a:r>
          </a:p>
        </p:txBody>
      </p:sp>
      <p:sp>
        <p:nvSpPr>
          <p:cNvPr id="4" name="Rounded Rectangle 3"/>
          <p:cNvSpPr/>
          <p:nvPr/>
        </p:nvSpPr>
        <p:spPr>
          <a:xfrm>
            <a:off x="868680" y="2788920"/>
            <a:ext cx="10451592" cy="1060704"/>
          </a:xfrm>
          <a:prstGeom prst="roundRect">
            <a:avLst>
              <a:gd name="adj" fmla="val 7758"/>
            </a:avLst>
          </a:prstGeom>
          <a:solidFill>
            <a:srgbClr val="E8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97864" y="3026663"/>
            <a:ext cx="548640" cy="457200"/>
          </a:xfrm>
          <a:prstGeom prst="rect">
            <a:avLst/>
          </a:prstGeom>
          <a:noFill/>
        </p:spPr>
        <p:txBody>
          <a:bodyPr wrap="square" lIns="0" rIns="0" tIns="0" bIns="0" anchor="t">
            <a:spAutoFit/>
          </a:bodyPr>
          <a:lstStyle/>
          <a:p>
            <a:pPr algn="l">
              <a:lnSpc>
                <a:spcPct val="120000"/>
              </a:lnSpc>
            </a:pPr>
            <a:r>
              <a:rPr sz="2200" b="1" i="0">
                <a:solidFill>
                  <a:srgbClr val="1F5F4F"/>
                </a:solidFill>
                <a:latin typeface="Cambria"/>
              </a:rPr>
              <a:t>1</a:t>
            </a:r>
          </a:p>
        </p:txBody>
      </p:sp>
      <p:sp>
        <p:nvSpPr>
          <p:cNvPr id="6" name="TextBox 5"/>
          <p:cNvSpPr txBox="1"/>
          <p:nvPr/>
        </p:nvSpPr>
        <p:spPr>
          <a:xfrm>
            <a:off x="1783080" y="2999232"/>
            <a:ext cx="3200400" cy="548640"/>
          </a:xfrm>
          <a:prstGeom prst="rect">
            <a:avLst/>
          </a:prstGeom>
          <a:noFill/>
        </p:spPr>
        <p:txBody>
          <a:bodyPr wrap="square" lIns="0" rIns="0" tIns="0" bIns="0" anchor="t">
            <a:spAutoFit/>
          </a:bodyPr>
          <a:lstStyle/>
          <a:p>
            <a:pPr algn="l">
              <a:lnSpc>
                <a:spcPct val="120000"/>
              </a:lnSpc>
            </a:pPr>
            <a:r>
              <a:rPr sz="1900" b="1" i="0">
                <a:solidFill>
                  <a:srgbClr val="14201C"/>
                </a:solidFill>
                <a:latin typeface="Cambria"/>
              </a:rPr>
              <a:t>An eval set</a:t>
            </a:r>
          </a:p>
        </p:txBody>
      </p:sp>
      <p:sp>
        <p:nvSpPr>
          <p:cNvPr id="7" name="TextBox 6"/>
          <p:cNvSpPr txBox="1"/>
          <p:nvPr/>
        </p:nvSpPr>
        <p:spPr>
          <a:xfrm>
            <a:off x="5212080" y="2990088"/>
            <a:ext cx="5760720" cy="731520"/>
          </a:xfrm>
          <a:prstGeom prst="rect">
            <a:avLst/>
          </a:prstGeom>
          <a:noFill/>
        </p:spPr>
        <p:txBody>
          <a:bodyPr wrap="square" lIns="0" rIns="0" tIns="0" bIns="0" anchor="t">
            <a:spAutoFit/>
          </a:bodyPr>
          <a:lstStyle/>
          <a:p>
            <a:pPr algn="l">
              <a:lnSpc>
                <a:spcPct val="130000"/>
              </a:lnSpc>
            </a:pPr>
            <a:r>
              <a:rPr sz="1350" b="0" i="0">
                <a:solidFill>
                  <a:srgbClr val="6E7671"/>
                </a:solidFill>
                <a:latin typeface="Calibri"/>
              </a:rPr>
              <a:t>The rules are covered by unit tests. The model's judgement isn't measured at all — so the next prompt change would be a guess.</a:t>
            </a:r>
          </a:p>
        </p:txBody>
      </p:sp>
      <p:sp>
        <p:nvSpPr>
          <p:cNvPr id="8" name="Rounded Rectangle 7"/>
          <p:cNvSpPr/>
          <p:nvPr/>
        </p:nvSpPr>
        <p:spPr>
          <a:xfrm>
            <a:off x="868680" y="3977639"/>
            <a:ext cx="10451592" cy="1060704"/>
          </a:xfrm>
          <a:prstGeom prst="roundRect">
            <a:avLst>
              <a:gd name="adj" fmla="val 7758"/>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97864" y="4215383"/>
            <a:ext cx="548640" cy="457200"/>
          </a:xfrm>
          <a:prstGeom prst="rect">
            <a:avLst/>
          </a:prstGeom>
          <a:noFill/>
        </p:spPr>
        <p:txBody>
          <a:bodyPr wrap="square" lIns="0" rIns="0" tIns="0" bIns="0" anchor="t">
            <a:spAutoFit/>
          </a:bodyPr>
          <a:lstStyle/>
          <a:p>
            <a:pPr algn="l">
              <a:lnSpc>
                <a:spcPct val="120000"/>
              </a:lnSpc>
            </a:pPr>
            <a:r>
              <a:rPr sz="2200" b="1" i="0">
                <a:solidFill>
                  <a:srgbClr val="8FB3A4"/>
                </a:solidFill>
                <a:latin typeface="Cambria"/>
              </a:rPr>
              <a:t>2</a:t>
            </a:r>
          </a:p>
        </p:txBody>
      </p:sp>
      <p:sp>
        <p:nvSpPr>
          <p:cNvPr id="10" name="TextBox 9"/>
          <p:cNvSpPr txBox="1"/>
          <p:nvPr/>
        </p:nvSpPr>
        <p:spPr>
          <a:xfrm>
            <a:off x="1783080" y="4187952"/>
            <a:ext cx="3200400" cy="548640"/>
          </a:xfrm>
          <a:prstGeom prst="rect">
            <a:avLst/>
          </a:prstGeom>
          <a:noFill/>
        </p:spPr>
        <p:txBody>
          <a:bodyPr wrap="square" lIns="0" rIns="0" tIns="0" bIns="0" anchor="t">
            <a:spAutoFit/>
          </a:bodyPr>
          <a:lstStyle/>
          <a:p>
            <a:pPr algn="l">
              <a:lnSpc>
                <a:spcPct val="120000"/>
              </a:lnSpc>
            </a:pPr>
            <a:r>
              <a:rPr sz="1900" b="1" i="0">
                <a:solidFill>
                  <a:srgbClr val="14201C"/>
                </a:solidFill>
                <a:latin typeface="Cambria"/>
              </a:rPr>
              <a:t>Streaming replies</a:t>
            </a:r>
          </a:p>
        </p:txBody>
      </p:sp>
      <p:sp>
        <p:nvSpPr>
          <p:cNvPr id="11" name="TextBox 10"/>
          <p:cNvSpPr txBox="1"/>
          <p:nvPr/>
        </p:nvSpPr>
        <p:spPr>
          <a:xfrm>
            <a:off x="5212080" y="4178807"/>
            <a:ext cx="5760720" cy="731520"/>
          </a:xfrm>
          <a:prstGeom prst="rect">
            <a:avLst/>
          </a:prstGeom>
          <a:noFill/>
        </p:spPr>
        <p:txBody>
          <a:bodyPr wrap="square" lIns="0" rIns="0" tIns="0" bIns="0" anchor="t">
            <a:spAutoFit/>
          </a:bodyPr>
          <a:lstStyle/>
          <a:p>
            <a:pPr algn="l">
              <a:lnSpc>
                <a:spcPct val="130000"/>
              </a:lnSpc>
            </a:pPr>
            <a:r>
              <a:rPr sz="1350" b="0" i="0">
                <a:solidFill>
                  <a:srgbClr val="6E7671"/>
                </a:solidFill>
                <a:latin typeface="Calibri"/>
              </a:rPr>
              <a:t>Answers arrive as a block after a pause. Streaming them word by word is the difference between a script and a product.</a:t>
            </a:r>
          </a:p>
        </p:txBody>
      </p:sp>
      <p:sp>
        <p:nvSpPr>
          <p:cNvPr id="12" name="Rounded Rectangle 11"/>
          <p:cNvSpPr/>
          <p:nvPr/>
        </p:nvSpPr>
        <p:spPr>
          <a:xfrm>
            <a:off x="868680" y="5166359"/>
            <a:ext cx="10451592" cy="1060704"/>
          </a:xfrm>
          <a:prstGeom prst="roundRect">
            <a:avLst>
              <a:gd name="adj" fmla="val 7758"/>
            </a:avLst>
          </a:prstGeom>
          <a:solidFill>
            <a:srgbClr val="FFFFFF"/>
          </a:solidFill>
          <a:ln w="12700">
            <a:solidFill>
              <a:srgbClr val="DEDD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97864" y="5404103"/>
            <a:ext cx="548640" cy="457200"/>
          </a:xfrm>
          <a:prstGeom prst="rect">
            <a:avLst/>
          </a:prstGeom>
          <a:noFill/>
        </p:spPr>
        <p:txBody>
          <a:bodyPr wrap="square" lIns="0" rIns="0" tIns="0" bIns="0" anchor="t">
            <a:spAutoFit/>
          </a:bodyPr>
          <a:lstStyle/>
          <a:p>
            <a:pPr algn="l">
              <a:lnSpc>
                <a:spcPct val="120000"/>
              </a:lnSpc>
            </a:pPr>
            <a:r>
              <a:rPr sz="2200" b="1" i="0">
                <a:solidFill>
                  <a:srgbClr val="8FB3A4"/>
                </a:solidFill>
                <a:latin typeface="Cambria"/>
              </a:rPr>
              <a:t>3</a:t>
            </a:r>
          </a:p>
        </p:txBody>
      </p:sp>
      <p:sp>
        <p:nvSpPr>
          <p:cNvPr id="14" name="TextBox 13"/>
          <p:cNvSpPr txBox="1"/>
          <p:nvPr/>
        </p:nvSpPr>
        <p:spPr>
          <a:xfrm>
            <a:off x="1783080" y="5376672"/>
            <a:ext cx="3200400" cy="548640"/>
          </a:xfrm>
          <a:prstGeom prst="rect">
            <a:avLst/>
          </a:prstGeom>
          <a:noFill/>
        </p:spPr>
        <p:txBody>
          <a:bodyPr wrap="square" lIns="0" rIns="0" tIns="0" bIns="0" anchor="t">
            <a:spAutoFit/>
          </a:bodyPr>
          <a:lstStyle/>
          <a:p>
            <a:pPr algn="l">
              <a:lnSpc>
                <a:spcPct val="120000"/>
              </a:lnSpc>
            </a:pPr>
            <a:r>
              <a:rPr sz="1900" b="1" i="0">
                <a:solidFill>
                  <a:srgbClr val="14201C"/>
                </a:solidFill>
                <a:latin typeface="Cambria"/>
              </a:rPr>
              <a:t>Cost per conversation</a:t>
            </a:r>
          </a:p>
        </p:txBody>
      </p:sp>
      <p:sp>
        <p:nvSpPr>
          <p:cNvPr id="15" name="TextBox 14"/>
          <p:cNvSpPr txBox="1"/>
          <p:nvPr/>
        </p:nvSpPr>
        <p:spPr>
          <a:xfrm>
            <a:off x="5212080" y="5367527"/>
            <a:ext cx="5760720" cy="731520"/>
          </a:xfrm>
          <a:prstGeom prst="rect">
            <a:avLst/>
          </a:prstGeom>
          <a:noFill/>
        </p:spPr>
        <p:txBody>
          <a:bodyPr wrap="square" lIns="0" rIns="0" tIns="0" bIns="0" anchor="t">
            <a:spAutoFit/>
          </a:bodyPr>
          <a:lstStyle/>
          <a:p>
            <a:pPr algn="l">
              <a:lnSpc>
                <a:spcPct val="130000"/>
              </a:lnSpc>
            </a:pPr>
            <a:r>
              <a:rPr sz="1350" b="0" i="0">
                <a:solidFill>
                  <a:srgbClr val="6E7671"/>
                </a:solidFill>
                <a:latin typeface="Calibri"/>
              </a:rPr>
              <a:t>Support is priced per contact. You can't argue for AI deflection without that number.</a:t>
            </a:r>
          </a:p>
        </p:txBody>
      </p:sp>
      <p:sp>
        <p:nvSpPr>
          <p:cNvPr id="16" name="TextBox 15"/>
          <p:cNvSpPr txBox="1"/>
          <p:nvPr/>
        </p:nvSpPr>
        <p:spPr>
          <a:xfrm>
            <a:off x="868680" y="6419088"/>
            <a:ext cx="10451592" cy="384048"/>
          </a:xfrm>
          <a:prstGeom prst="rect">
            <a:avLst/>
          </a:prstGeom>
          <a:noFill/>
        </p:spPr>
        <p:txBody>
          <a:bodyPr wrap="square" lIns="0" rIns="0" tIns="0" bIns="0" anchor="t">
            <a:spAutoFit/>
          </a:bodyPr>
          <a:lstStyle/>
          <a:p>
            <a:pPr algn="l">
              <a:lnSpc>
                <a:spcPct val="120000"/>
              </a:lnSpc>
            </a:pPr>
            <a:r>
              <a:rPr sz="1400" b="1" i="0">
                <a:solidFill>
                  <a:srgbClr val="1F5F4F"/>
                </a:solidFill>
                <a:latin typeface="Calibri"/>
              </a:rPr>
              <a:t>Durable sessions and German were the previous two on this list. </a:t>
            </a:r>
            <a:r>
              <a:rPr sz="1400" b="0" i="0">
                <a:solidFill>
                  <a:srgbClr val="6E7671"/>
                </a:solidFill>
                <a:latin typeface="Calibri"/>
              </a:rPr>
              <a:t>Both are built.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