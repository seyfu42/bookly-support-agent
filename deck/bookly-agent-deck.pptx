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"This is a customer support agent for Bookly, a fictional online bookstore. The whole thing is built on one idea, and it's on this slide: the AI writes the answer, but code makes the decision."</a:t>
            </a:r>
          </a:p>
          <a:p/>
          <a:p>
            <a:r>
              <a:t>Hold this slide for about five seconds. Don't explain it yet — the next slide explains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"Here's the problem I designed around. If you ask an AI to bend a rule, it usually will — it's trained to be helpful. That's harmless when it's guessing a film recommendation. It's expensive when it's deciding whether to give someone their money back."</a:t>
            </a:r>
          </a:p>
          <a:p/>
          <a:p>
            <a:r>
              <a:t>"So I made a rule for myself: the model is never allowed to make that decision."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"Every single answer goes through the same three steps."</a:t>
            </a:r>
          </a:p>
          <a:p/>
          <a:p>
            <a:r>
              <a:t>"Claude reads the message and picks a tool. The tool is ordinary Python — it goes and gets the real answer. Then Claude puts that answer into friendly words."</a:t>
            </a:r>
          </a:p>
          <a:p/>
          <a:p>
            <a:r>
              <a:t>"Step two is the argument. Whether someone gets a refund is decided by a Python function with an if-statement in it. Forty-five days is more than thirty, so the answer is no — and there's no way to talk the model out of it, because the model was never asked."</a:t>
            </a:r>
          </a:p>
          <a:p/>
          <a:p>
            <a:r>
              <a:t>About twenty seconds. This is the slide that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"Here's what that looks like to a customer. This is a real exchange from the running agent."</a:t>
            </a:r>
          </a:p>
          <a:p/>
          <a:p>
            <a:r>
              <a:t>"The customer asks for a refund. Underneath, the agent looks the order up and calls the eligibility check, which comes back false. So it says no — warmly, with the reason, and it offers a human."</a:t>
            </a:r>
          </a:p>
          <a:p/>
          <a:p>
            <a:r>
              <a:t>"And if the customer pushes back and says 'come on, I'm a loyal customer' — it still says no. I tested that."</a:t>
            </a:r>
          </a:p>
          <a:p/>
          <a:p>
            <a:r>
              <a:t>About twenty seconds, then cut to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"Three things I'd do next. The first one isn't close."</a:t>
            </a:r>
          </a:p>
          <a:p/>
          <a:p>
            <a:r>
              <a:t>"The policy rules are covered by unit tests, so I know those are right. But nothing measures the model's half — did it pick the right tool, did it ask a question when it should have. Without an eval set, my next prompt change is a guess."</a:t>
            </a:r>
          </a:p>
          <a:p/>
          <a:p>
            <a:r>
              <a:t>Then close: "That's the agent. Let me show you it running."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1887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8FB3A4"/>
                </a:solidFill>
                <a:latin typeface="Calibri"/>
              </a:rPr>
              <a:t>BOOKLY  · 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The AI writes the answer.</a:t>
            </a:r>
          </a:p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Code makes the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389120"/>
            <a:ext cx="1463040" cy="36576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An AI wants to please you.</a:t>
            </a:r>
          </a:p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 refund policy shouldn't.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F5E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4552B"/>
                </a:solidFill>
                <a:latin typeface="Calibri"/>
              </a:rPr>
              <a:t>A CHATBOT OPTIMISES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Making you happy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right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28232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93992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F5F4F"/>
                </a:solidFill>
                <a:latin typeface="Calibri"/>
              </a:rPr>
              <a:t>A SUPPORT AGENT MUST OPTIMISE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Being right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about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66928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6E7671"/>
                </a:solidFill>
                <a:latin typeface="Calibri"/>
              </a:rPr>
              <a:t>Both matter. Only one of them can be left to a language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Every answer takes the same three steps.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The middle one is the whole argument.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79576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picks a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reads the message and chooses: look up this order, check this refund, search the help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0618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01514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A4552B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1514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Python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1514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45 days since delivery. The window is 30. The answer is no — computed by code, not judged by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23452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452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replies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3452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explains the outcome kindly. It is not allowed to overturn step 2, however the customer 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45 days old. The answer is no — every time.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A real exchange from the running agent.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720" y="2468880"/>
            <a:ext cx="5577840" cy="658368"/>
          </a:xfrm>
          <a:prstGeom prst="roundRect">
            <a:avLst>
              <a:gd name="adj" fmla="val 22222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53328" y="2642616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I want a refund for BK-1002, ada.lovelace@example.com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337560"/>
            <a:ext cx="8092440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79576" y="3547872"/>
            <a:ext cx="7470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1350" b="0" i="0">
                <a:solidFill>
                  <a:srgbClr val="14201C"/>
                </a:solidFill>
                <a:latin typeface="Calibri"/>
              </a:rPr>
              <a:t>I checked, and unfortunately BK-1002 isn't eligible for a refund — your copy of Piranesi was delivered on 23 July, 45 days ago, which falls outside the 30-day return window.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1350" b="0" i="0">
                <a:solidFill>
                  <a:srgbClr val="14201C"/>
                </a:solidFill>
                <a:latin typeface="Calibri"/>
              </a:rPr>
              <a:t>I'm sorry to give you that answer. If you'd like, I can pass this to a human colleague to take another look.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38928"/>
            <a:ext cx="10451592" cy="1024128"/>
          </a:xfrm>
          <a:prstGeom prst="roundRect">
            <a:avLst>
              <a:gd name="adj" fmla="val 8928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97864" y="53218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684"/>
                </a:solidFill>
                <a:latin typeface="Calibri"/>
              </a:rPr>
              <a:t>WHAT IT DID UNDERNEATH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5632704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DB4AB"/>
                </a:solidFill>
                <a:latin typeface="Courier New"/>
              </a:rPr>
              <a:t>check_return_eligibility  →  </a:t>
            </a:r>
            <a:r>
              <a:rPr sz="1300" b="1" i="0">
                <a:solidFill>
                  <a:srgbClr val="E0885F"/>
                </a:solidFill>
                <a:latin typeface="Courier New"/>
              </a:rPr>
              <a:t>"eligible": false</a:t>
            </a:r>
            <a:r>
              <a:rPr sz="1300" b="0" i="0">
                <a:solidFill>
                  <a:srgbClr val="9DB4AB"/>
                </a:solidFill>
                <a:latin typeface="Courier New"/>
              </a:rPr>
              <a:t>   "reason": "OUTSIDE_RETURN_WINDOW"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What I'd build next.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In order. The first one isn't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97864" y="30266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99923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An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990088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The rules are covered by unit tests. The model's judgement isn't measured yet — so the next prompt change would be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7763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97864" y="421538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87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Real session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17880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Conversations live in memory today. A dropped connection shouldn't lose a customer.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5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404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37667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Cost per 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536752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Support is priced per contact. You can't argue for AI deflection without that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