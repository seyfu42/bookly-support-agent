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"This is a customer support agent for Bookly, a fictional online bookstore. The whole thing is built on one idea, and it's on this slide: the AI writes the answer, but code makes the decision."</a:t>
            </a:r>
          </a:p>
          <a:p/>
          <a:p>
            <a:r>
              <a:t>Hold this slide for about five seconds. Don't explain it yet — the next slide explains why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"Here's the problem I designed around. If you ask an AI to bend a rule, it usually will — it's trained to be helpful. That's harmless when it's guessing a film recommendation. It's expensive when it's deciding whether to give someone their money back."</a:t>
            </a:r>
          </a:p>
          <a:p/>
          <a:p>
            <a:r>
              <a:t>"So I made a rule for myself: the model is never allowed to make that decision."</a:t>
            </a:r>
          </a:p>
          <a:p/>
          <a:p>
            <a:r>
              <a:t>About fifteen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"Every single answer goes through the same three steps."</a:t>
            </a:r>
          </a:p>
          <a:p/>
          <a:p>
            <a:r>
              <a:t>"Claude reads the message and picks a tool. The tool is ordinary Python — it goes and gets the real answer. Then Claude puts that answer into friendly words."</a:t>
            </a:r>
          </a:p>
          <a:p/>
          <a:p>
            <a:r>
              <a:t>"Step two is the argument. Whether someone gets a refund is decided by a Python function with an if-statement in it. Forty-five days is more than thirty, so the answer is no — and there's no way to talk the model out of it, because the model was never asked."</a:t>
            </a:r>
          </a:p>
          <a:p/>
          <a:p>
            <a:r>
              <a:t>If you have a spare beat, add: "and conversations are stored in SQLite, so this survives a server restart." Otherwise skip it.</a:t>
            </a:r>
          </a:p>
          <a:p/>
          <a:p>
            <a:r>
              <a:t>About twenty seconds. This is the slide that matters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"Same customer, same order, two languages. Nobody clicked a setting — the customer asked in German and the agent switched itself."</a:t>
            </a:r>
          </a:p>
          <a:p/>
          <a:p>
            <a:r>
              <a:t>"Look at the bottom. That is one tool result, shared by both. policy.py has never heard of German — it returns a code, and the code is the same code. Language changes the wording. It cannot touch the decision."</a:t>
            </a:r>
          </a:p>
          <a:p/>
          <a:p>
            <a:r>
              <a:t>"And if the customer pushes back — in either language — it still says no. I tested that."</a:t>
            </a:r>
          </a:p>
          <a:p/>
          <a:p>
            <a:r>
              <a:t>About twenty-five seconds, then cut to the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"Three things I'd do next. The first one isn't close."</a:t>
            </a:r>
          </a:p>
          <a:p/>
          <a:p>
            <a:r>
              <a:t>"The policy rules are covered by unit tests, so I know those are right. But nothing measures the model's half — did it pick the right tool, did it ask a question when it should have. Without an eval set, my next prompt change is a guess."</a:t>
            </a:r>
          </a:p>
          <a:p/>
          <a:p>
            <a:r>
              <a:t>If asked why these three: the first two on this list -- durable sessions and German -- are already built, so this is the list after those.</a:t>
            </a:r>
          </a:p>
          <a:p/>
          <a:p>
            <a:r>
              <a:t>Then close: "That's the agent. Let me show you it running."</a:t>
            </a:r>
          </a:p>
          <a:p/>
          <a:p>
            <a:r>
              <a:t>About fifteen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5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1887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8FB3A4"/>
                </a:solidFill>
                <a:latin typeface="Calibri"/>
              </a:rPr>
              <a:t>BOOKLY  ·  CUSTOMER SUPPORT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74519"/>
            <a:ext cx="10424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The AI writes the answer.</a:t>
            </a:r>
          </a:p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Code makes the decision.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389120"/>
            <a:ext cx="1463040" cy="36576"/>
          </a:xfrm>
          <a:prstGeom prst="rect">
            <a:avLst/>
          </a:prstGeom>
          <a:solidFill>
            <a:srgbClr val="8F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5897880"/>
            <a:ext cx="10424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9DAAA3"/>
                </a:solidFill>
                <a:latin typeface="Calibri"/>
              </a:rPr>
              <a:t>Seyfullah Ural   · 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868680"/>
            <a:ext cx="102412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14201C"/>
                </a:solidFill>
                <a:latin typeface="Cambria"/>
              </a:rPr>
              <a:t>An AI wants to please you.</a:t>
            </a:r>
          </a:p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14201C"/>
                </a:solidFill>
                <a:latin typeface="Cambria"/>
              </a:rPr>
              <a:t>A refund policy shouldn't.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3246120"/>
            <a:ext cx="5074920" cy="1874519"/>
          </a:xfrm>
          <a:prstGeom prst="roundRect">
            <a:avLst>
              <a:gd name="adj" fmla="val 4878"/>
            </a:avLst>
          </a:prstGeom>
          <a:solidFill>
            <a:srgbClr val="F5E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34440" y="3520440"/>
            <a:ext cx="4343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A4552B"/>
                </a:solidFill>
                <a:latin typeface="Calibri"/>
              </a:rPr>
              <a:t>A CHATBOT OPTIMISES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931920"/>
            <a:ext cx="4343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4201C"/>
                </a:solidFill>
                <a:latin typeface="Cambria"/>
              </a:rPr>
              <a:t>Making you happy</a:t>
            </a:r>
          </a:p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4201C"/>
                </a:solidFill>
                <a:latin typeface="Cambria"/>
              </a:rPr>
              <a:t>right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28232" y="3246120"/>
            <a:ext cx="5074920" cy="1874519"/>
          </a:xfrm>
          <a:prstGeom prst="roundRect">
            <a:avLst>
              <a:gd name="adj" fmla="val 4878"/>
            </a:avLst>
          </a:prstGeom>
          <a:solidFill>
            <a:srgbClr val="E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793992" y="3520440"/>
            <a:ext cx="4343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F5F4F"/>
                </a:solidFill>
                <a:latin typeface="Calibri"/>
              </a:rPr>
              <a:t>A SUPPORT AGENT MUST OPTIMISE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3931920"/>
            <a:ext cx="4343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4201C"/>
                </a:solidFill>
                <a:latin typeface="Cambria"/>
              </a:rPr>
              <a:t>Being right</a:t>
            </a:r>
          </a:p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4201C"/>
                </a:solidFill>
                <a:latin typeface="Cambria"/>
              </a:rPr>
              <a:t>about money.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669280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6E7671"/>
                </a:solidFill>
                <a:latin typeface="Calibri"/>
              </a:rPr>
              <a:t>Both matter. Only one of them can be left to a language model.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8686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4201C"/>
                </a:solidFill>
                <a:latin typeface="Cambria"/>
              </a:rPr>
              <a:t>Every answer takes the same three steps.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965960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6E7671"/>
                </a:solidFill>
                <a:latin typeface="Calibri"/>
              </a:rPr>
              <a:t>The middle one is the whole argument.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3210458" cy="2788920"/>
          </a:xfrm>
          <a:prstGeom prst="roundRect">
            <a:avLst>
              <a:gd name="adj" fmla="val 3278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79576" y="3063239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1F5F4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" y="3721608"/>
            <a:ext cx="258866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4201C"/>
                </a:solidFill>
                <a:latin typeface="Cambria"/>
              </a:rPr>
              <a:t>Claude picks a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" y="4434840"/>
            <a:ext cx="258866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It reads the message and chooses: look up this order, check this refund, search the help pages.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90618" y="2788920"/>
            <a:ext cx="3210458" cy="2788920"/>
          </a:xfrm>
          <a:prstGeom prst="roundRect">
            <a:avLst>
              <a:gd name="adj" fmla="val 3278"/>
            </a:avLst>
          </a:prstGeom>
          <a:solidFill>
            <a:srgbClr val="E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801514" y="3063239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A4552B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1514" y="3721608"/>
            <a:ext cx="258866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4201C"/>
                </a:solidFill>
                <a:latin typeface="Cambria"/>
              </a:rPr>
              <a:t>Python decides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1514" y="4434840"/>
            <a:ext cx="258866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45 days since delivery. The window is 30. The answer is no — computed by code, not judged by the model.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788920"/>
            <a:ext cx="3210458" cy="2788920"/>
          </a:xfrm>
          <a:prstGeom prst="roundRect">
            <a:avLst>
              <a:gd name="adj" fmla="val 3278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23452" y="3063239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1F5F4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3452" y="3721608"/>
            <a:ext cx="258866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4201C"/>
                </a:solidFill>
                <a:latin typeface="Cambria"/>
              </a:rPr>
              <a:t>Claude replies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3452" y="4434840"/>
            <a:ext cx="258866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It explains the outcome kindly. It is not allowed to overturn step 2, however the customer asks.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870448"/>
            <a:ext cx="104515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E7671"/>
                </a:solidFill>
                <a:latin typeface="Calibri"/>
              </a:rPr>
              <a:t>Conversations live in SQLite, not memory. </a:t>
            </a:r>
            <a:r>
              <a:rPr sz="1400" b="0" i="0">
                <a:solidFill>
                  <a:srgbClr val="6E7671"/>
                </a:solidFill>
                <a:latin typeface="Calibri"/>
              </a:rPr>
              <a:t>Restart the server mid-conversation and the agent still knows which order you meant — and still refuses the refund.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8686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4201C"/>
                </a:solidFill>
                <a:latin typeface="Cambria"/>
              </a:rPr>
              <a:t>Same refusal. Two languages.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74519"/>
            <a:ext cx="104515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6E7671"/>
                </a:solidFill>
                <a:latin typeface="Calibri"/>
              </a:rPr>
              <a:t>Real replies from the running agent. English is the default — the customer just asked for German.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395728"/>
            <a:ext cx="5030571" cy="2487168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61288" y="26151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F5F4F"/>
                </a:solidFill>
                <a:latin typeface="Calibri"/>
              </a:rPr>
              <a:t>ENGLISH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2944368"/>
            <a:ext cx="44453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6E7671"/>
                </a:solidFill>
                <a:latin typeface="Calibri"/>
              </a:rPr>
              <a:t>“I want a refund for BK-1002”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3438144"/>
            <a:ext cx="444535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400" b="0" i="0">
                <a:solidFill>
                  <a:srgbClr val="14201C"/>
                </a:solidFill>
                <a:latin typeface="Calibri"/>
              </a:rPr>
              <a:t>BK-1002 isn't eligible for a refund — your copy of Piranesi was delivered on 23 July, 45 days ago, which falls outside the 30-day return window.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2443" y="2395728"/>
            <a:ext cx="5030571" cy="2487168"/>
          </a:xfrm>
          <a:prstGeom prst="roundRect">
            <a:avLst>
              <a:gd name="adj" fmla="val 3676"/>
            </a:avLst>
          </a:prstGeom>
          <a:solidFill>
            <a:srgbClr val="E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85051" y="26151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F5F4F"/>
                </a:solidFill>
                <a:latin typeface="Calibri"/>
              </a:rPr>
              <a:t>DEUTSCH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5051" y="2944368"/>
            <a:ext cx="44453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6E7671"/>
                </a:solidFill>
                <a:latin typeface="Calibri"/>
              </a:rPr>
              <a:t>„Ich möchte eine Erstattung für BK-1002“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5051" y="3438144"/>
            <a:ext cx="444535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400" b="0" i="0">
                <a:solidFill>
                  <a:srgbClr val="14201C"/>
                </a:solidFill>
                <a:latin typeface="Calibri"/>
              </a:rPr>
              <a:t>Leider kann ich für BK-1002 keine Erstattung veranlassen: Die Bestellung wurde vor 45 Tagen zugestellt und liegt damit außerhalb des 30-tägigen Rückgabefensters.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102352"/>
            <a:ext cx="10451592" cy="969264"/>
          </a:xfrm>
          <a:prstGeom prst="roundRect">
            <a:avLst>
              <a:gd name="adj" fmla="val 9433"/>
            </a:avLst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7864" y="526694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B7684"/>
                </a:solidFill>
                <a:latin typeface="Calibri"/>
              </a:rPr>
              <a:t>ONE TOOL RESULT — SHARED BY BOTH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7864" y="5559552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DB4AB"/>
                </a:solidFill>
                <a:latin typeface="Courier New"/>
              </a:rPr>
              <a:t>check_return_eligibility  →  </a:t>
            </a:r>
            <a:r>
              <a:rPr sz="1300" b="1" i="0">
                <a:solidFill>
                  <a:srgbClr val="E0885F"/>
                </a:solidFill>
                <a:latin typeface="Courier New"/>
              </a:rPr>
              <a:t>"eligible": false</a:t>
            </a:r>
            <a:r>
              <a:rPr sz="1300" b="0" i="0">
                <a:solidFill>
                  <a:srgbClr val="9DB4AB"/>
                </a:solidFill>
                <a:latin typeface="Courier New"/>
              </a:rPr>
              <a:t>   "reason": "OUTSIDE_RETURN_WINDOW"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6272784"/>
            <a:ext cx="104515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F5F4F"/>
                </a:solidFill>
                <a:latin typeface="Calibri"/>
              </a:rPr>
              <a:t>policy.py has never heard of German.</a:t>
            </a:r>
            <a:r>
              <a:rPr sz="1400" b="0" i="0">
                <a:solidFill>
                  <a:srgbClr val="6E7671"/>
                </a:solidFill>
                <a:latin typeface="Calibri"/>
              </a:rPr>
              <a:t> It returns a code; turning that code into a sentence is a presentation job.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8686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4201C"/>
                </a:solidFill>
                <a:latin typeface="Cambria"/>
              </a:rPr>
              <a:t>What I'd build next.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74519"/>
            <a:ext cx="104515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6E7671"/>
                </a:solidFill>
                <a:latin typeface="Calibri"/>
              </a:rPr>
              <a:t>In order. The first one isn't close.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0451592" cy="1060704"/>
          </a:xfrm>
          <a:prstGeom prst="roundRect">
            <a:avLst>
              <a:gd name="adj" fmla="val 7758"/>
            </a:avLst>
          </a:prstGeom>
          <a:solidFill>
            <a:srgbClr val="E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97864" y="302666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F5F4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299923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An eval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2990088"/>
            <a:ext cx="5760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The rules are covered by unit tests. The model's judgement isn't measured at all — so the next prompt change would be a guess.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977639"/>
            <a:ext cx="10451592" cy="1060704"/>
          </a:xfrm>
          <a:prstGeom prst="roundRect">
            <a:avLst>
              <a:gd name="adj" fmla="val 7758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97864" y="421538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8FB3A4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418795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Streaming replies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4178807"/>
            <a:ext cx="5760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Answers arrive as a block after a pause. Streaming them word by word is the difference between a script and a product.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166359"/>
            <a:ext cx="10451592" cy="1060704"/>
          </a:xfrm>
          <a:prstGeom prst="roundRect">
            <a:avLst>
              <a:gd name="adj" fmla="val 7758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7864" y="540410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8FB3A4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37667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Cost per conversation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5367527"/>
            <a:ext cx="5760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Support is priced per contact. You can't argue for AI deflection without that number.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419088"/>
            <a:ext cx="104515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F5F4F"/>
                </a:solidFill>
                <a:latin typeface="Calibri"/>
              </a:rPr>
              <a:t>Durable sessions and German were the previous two on this list. </a:t>
            </a:r>
            <a:r>
              <a:rPr sz="1400" b="0" i="0">
                <a:solidFill>
                  <a:srgbClr val="6E7671"/>
                </a:solidFill>
                <a:latin typeface="Calibri"/>
              </a:rPr>
              <a:t>Both are built.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